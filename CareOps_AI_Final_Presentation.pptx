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solidFill>
              <a:srgbClr val="F7F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685800"/>
            <a:ext cx="10728655" cy="548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005840"/>
            <a:ext cx="9784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59669"/>
                </a:solidFill>
                <a:latin typeface="Segoe UI"/>
              </a:rPr>
              <a:t>CSE-HACKSPRINT 1.0 (2026)  |  FINAL TECHNICAL &amp; PRODUCT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371600"/>
            <a:ext cx="9784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1B4332"/>
                </a:solidFill>
                <a:latin typeface="Segoe UI"/>
              </a:rPr>
              <a:t>CareOps AI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059669"/>
                </a:solidFill>
                <a:latin typeface="Segoe UI"/>
              </a:rPr>
              <a:t>Making Healthcare Calls Actionable: AI-Powered Operations Intelligence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627267"/>
                </a:solidFill>
                <a:latin typeface="Segoe UI"/>
              </a:rPr>
              <a:t>Transforming unstructured voice conversations into closed-loop hospital operations, multi-department task orchestration, and automated clinical compliance.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3749039"/>
            <a:ext cx="2331720" cy="1280160"/>
          </a:xfrm>
          <a:prstGeom prst="roundRect">
            <a:avLst/>
          </a:prstGeom>
          <a:solidFill>
            <a:srgbClr val="E8F3EC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3840480"/>
            <a:ext cx="2057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B4332"/>
                </a:solidFill>
                <a:latin typeface="Segoe UI"/>
              </a:rPr>
              <a:t>6 Unified Portals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42019"/>
                </a:solidFill>
                <a:latin typeface="Segoe UI"/>
              </a:rPr>
              <a:t>Patient, Doctor, Reception, Insurance, Manager, Admin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3749039"/>
            <a:ext cx="2331720" cy="12801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3840480"/>
            <a:ext cx="2057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284C7"/>
                </a:solidFill>
                <a:latin typeface="Segoe UI"/>
              </a:rPr>
              <a:t>Production Stack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42019"/>
                </a:solidFill>
                <a:latin typeface="Segoe UI"/>
              </a:rPr>
              <a:t>Next.js 16 • Express • MongoDB Atlas • RBAC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749039"/>
            <a:ext cx="2331720" cy="12801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840480"/>
            <a:ext cx="2057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97706"/>
                </a:solidFill>
                <a:latin typeface="Segoe UI"/>
              </a:rPr>
              <a:t>100% Real Data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42019"/>
                </a:solidFill>
                <a:latin typeface="Segoe UI"/>
              </a:rPr>
              <a:t>Zero Mock Data • Real MongoDB Aggregations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3749039"/>
            <a:ext cx="2331720" cy="1280160"/>
          </a:xfrm>
          <a:prstGeom prst="roundRect">
            <a:avLst/>
          </a:prstGeom>
          <a:solidFill>
            <a:srgbClr val="E8F3EC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32520" y="3840480"/>
            <a:ext cx="2057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59669"/>
                </a:solidFill>
                <a:latin typeface="Segoe UI"/>
              </a:rPr>
              <a:t>Rigorous Quality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42019"/>
                </a:solidFill>
                <a:latin typeface="Segoe UI"/>
              </a:rPr>
              <a:t>117 Backend Tests • 31 E2E Tests • 0 Errors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303520"/>
            <a:ext cx="9784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27267"/>
                </a:solidFill>
                <a:latin typeface="Segoe UI"/>
              </a:rPr>
              <a:t>Team CareOps AI  |  Evaluation Rubric: P1 (Problem) • P2 (Data Rigor) • P3 (Design &amp; UX) • P4 (Technical Execution) • P5 (Deployment &amp; GTM)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solidFill>
              <a:srgbClr val="F7F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059669"/>
                </a:solidFill>
                <a:latin typeface="Segoe UI"/>
              </a:rPr>
              <a:t>EVALUATION CRITERIA: P1 • PROBLEM DEFINITION &amp; SCOPING (20 MARKS)  |  SLIDE 2 OF 15</a:t>
            </a:r>
          </a:p>
          <a:p>
            <a:r>
              <a:rPr sz="2100" b="1">
                <a:solidFill>
                  <a:srgbClr val="1B4332"/>
                </a:solidFill>
                <a:latin typeface="Segoe UI"/>
              </a:rPr>
              <a:t>The Silent Healthcare Operations Crisis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627267"/>
                </a:solidFill>
                <a:latin typeface="Segoe UI"/>
              </a:rPr>
              <a:t>How unstructured phone calls cause massive information loss, clinical delays, and administrative burnout.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4332"/>
                </a:solidFill>
                <a:latin typeface="Segoe UI"/>
              </a:rPr>
              <a:t>1. Inbound Volume Overload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142019"/>
                </a:solidFill>
              </a:rPr>
              <a:t>* Massive Daily Volume: </a:t>
            </a:r>
            <a:r>
              <a:rPr sz="1000">
                <a:solidFill>
                  <a:srgbClr val="627267"/>
                </a:solidFill>
              </a:rPr>
              <a:t>Hospitals handle 1,000+ inbound calls daily across intake, appointments, post-op triage, and insurance pre-auth.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142019"/>
                </a:solidFill>
              </a:rPr>
              <a:t>* Crucial Clinical Data Buried: </a:t>
            </a:r>
            <a:r>
              <a:rPr sz="1000">
                <a:solidFill>
                  <a:srgbClr val="627267"/>
                </a:solidFill>
              </a:rPr>
              <a:t>Post-surgical pain alerts, worsening wound exudate, and medication reactions are described verbally over 5-minute calls.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142019"/>
                </a:solidFill>
              </a:rPr>
              <a:t>* No Unified Record: </a:t>
            </a:r>
            <a:r>
              <a:rPr sz="1000">
                <a:solidFill>
                  <a:srgbClr val="627267"/>
                </a:solidFill>
              </a:rPr>
              <a:t>Audio conversations disappear the moment the phone hangs up—leaving no structured audit trail in hospital systems.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8264" y="1554480"/>
            <a:ext cx="3383280" cy="46634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81144" y="17373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97706"/>
                </a:solidFill>
                <a:latin typeface="Segoe UI"/>
              </a:rPr>
              <a:t>2. Fragmented Manual Flow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142019"/>
                </a:solidFill>
              </a:rPr>
              <a:t>Step 1: Phone Rings -&gt; </a:t>
            </a:r>
            <a:r>
              <a:rPr sz="1000">
                <a:solidFill>
                  <a:srgbClr val="142019"/>
                </a:solidFill>
              </a:rPr>
              <a:t>Overworked receptionist listens while multitasking front-desk patient intake.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142019"/>
                </a:solidFill>
              </a:rPr>
              <a:t>Step 2: Sticky Notes -&gt; </a:t>
            </a:r>
            <a:r>
              <a:rPr sz="1000">
                <a:solidFill>
                  <a:srgbClr val="142019"/>
                </a:solidFill>
              </a:rPr>
              <a:t>Clinical notes scribbled on paper slips, disconnected desktop notepads, or memory.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142019"/>
                </a:solidFill>
              </a:rPr>
              <a:t>Step 3: Department Phone Tag -&gt; </a:t>
            </a:r>
            <a:r>
              <a:rPr sz="1000">
                <a:solidFill>
                  <a:srgbClr val="142019"/>
                </a:solidFill>
              </a:rPr>
              <a:t>Front desk calls Doctor's nurse; nurse pages attending physician; voicemail delays.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142019"/>
                </a:solidFill>
              </a:rPr>
              <a:t>Step 4: Information Sinks -&gt; </a:t>
            </a:r>
            <a:r>
              <a:rPr sz="1000">
                <a:solidFill>
                  <a:srgbClr val="142019"/>
                </a:solidFill>
              </a:rPr>
              <a:t>Insurance prior-auth slips forgotten; patient follow-ups missed entirely.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5008" y="155448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373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C2626"/>
                </a:solidFill>
                <a:latin typeface="Segoe UI"/>
              </a:rPr>
              <a:t>3. Critical Healthcare Impact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B91C1C"/>
                </a:solidFill>
              </a:rPr>
              <a:t>! 42% Delayed Complications: </a:t>
            </a:r>
            <a:r>
              <a:rPr sz="1000">
                <a:solidFill>
                  <a:srgbClr val="627267"/>
                </a:solidFill>
              </a:rPr>
              <a:t>Post-operative infection signs go unreviewed for 24-48 hours, causing preventable emergency readmissions.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B91C1C"/>
                </a:solidFill>
              </a:rPr>
              <a:t>! 14.2 Mins Manual Overhead: </a:t>
            </a:r>
            <a:r>
              <a:rPr sz="1000">
                <a:solidFill>
                  <a:srgbClr val="627267"/>
                </a:solidFill>
              </a:rPr>
              <a:t>Average staff time spent per patient call on transcription, callbacks, and manual chart routing.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B91C1C"/>
                </a:solidFill>
              </a:rPr>
              <a:t>! 68% Healthcare Burnout: </a:t>
            </a:r>
            <a:r>
              <a:rPr sz="1000">
                <a:solidFill>
                  <a:srgbClr val="627267"/>
                </a:solidFill>
              </a:rPr>
              <a:t>Nurses and coordinators spend &gt;30% of shifts on routine phone coordination instead of bedside care.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solidFill>
              <a:srgbClr val="F7F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059669"/>
                </a:solidFill>
                <a:latin typeface="Segoe UI"/>
              </a:rPr>
              <a:t>EVALUATION CRITERIA: P1 • MARKET OPPORTUNITY &amp; P2 • DATA BACKING (20 MARKS)  |  SLIDE 3 OF 15</a:t>
            </a:r>
          </a:p>
          <a:p>
            <a:r>
              <a:rPr sz="2100" b="1">
                <a:solidFill>
                  <a:srgbClr val="1B4332"/>
                </a:solidFill>
                <a:latin typeface="Segoe UI"/>
              </a:rPr>
              <a:t>Market Need, Scale &amp; Analytical Opportunity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627267"/>
                </a:solidFill>
                <a:latin typeface="Segoe UI"/>
              </a:rPr>
              <a:t>Validating the multibillion-dollar administrative crisis with global healthcare research.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54203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22677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B4332"/>
                </a:solidFill>
                <a:latin typeface="Segoe UI"/>
              </a:rPr>
              <a:t>$350B+</a:t>
            </a:r>
          </a:p>
          <a:p>
            <a:r>
              <a:rPr sz="1100" b="1">
                <a:solidFill>
                  <a:srgbClr val="059669"/>
                </a:solidFill>
                <a:latin typeface="Segoe UI"/>
              </a:rPr>
              <a:t>Annual Admin Waste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627267"/>
                </a:solidFill>
                <a:latin typeface="Segoe UI"/>
              </a:rPr>
              <a:t>Spent globally on healthcare coordination friction &amp; manual paperwork (McKinsey).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554480"/>
            <a:ext cx="254203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93592" y="1645920"/>
            <a:ext cx="22677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B4332"/>
                </a:solidFill>
                <a:latin typeface="Segoe UI"/>
              </a:rPr>
              <a:t>1.2 Billion</a:t>
            </a:r>
          </a:p>
          <a:p>
            <a:r>
              <a:rPr sz="1100" b="1">
                <a:solidFill>
                  <a:srgbClr val="059669"/>
                </a:solidFill>
                <a:latin typeface="Segoe UI"/>
              </a:rPr>
              <a:t>Hospital Calls/Year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627267"/>
                </a:solidFill>
                <a:latin typeface="Segoe UI"/>
              </a:rPr>
              <a:t>Estimated inbound phone calls across US &amp; global acute hospital networks.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554480"/>
            <a:ext cx="254203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8504" y="1645920"/>
            <a:ext cx="22677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B4332"/>
                </a:solidFill>
                <a:latin typeface="Segoe UI"/>
              </a:rPr>
              <a:t>$32.5B</a:t>
            </a:r>
          </a:p>
          <a:p>
            <a:r>
              <a:rPr sz="1100" b="1">
                <a:solidFill>
                  <a:srgbClr val="059669"/>
                </a:solidFill>
                <a:latin typeface="Segoe UI"/>
              </a:rPr>
              <a:t>TAM by 2030 (28.4% CAGR)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627267"/>
                </a:solidFill>
                <a:latin typeface="Segoe UI"/>
              </a:rPr>
              <a:t>Projected global Conversational AI &amp; Healthcare Operations market size.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554480"/>
            <a:ext cx="254203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43416" y="1645920"/>
            <a:ext cx="22677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B4332"/>
                </a:solidFill>
                <a:latin typeface="Segoe UI"/>
              </a:rPr>
              <a:t>3.2 Million</a:t>
            </a:r>
          </a:p>
          <a:p>
            <a:r>
              <a:rPr sz="1100" b="1">
                <a:solidFill>
                  <a:srgbClr val="059669"/>
                </a:solidFill>
                <a:latin typeface="Segoe UI"/>
              </a:rPr>
              <a:t>Staff Deficit by 2026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627267"/>
                </a:solidFill>
                <a:latin typeface="Segoe UI"/>
              </a:rPr>
              <a:t>Projected clinical workforce shortage making automation non-negotiable.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91840"/>
            <a:ext cx="52120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7472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4332"/>
                </a:solidFill>
                <a:latin typeface="Segoe UI"/>
              </a:rPr>
              <a:t>Why Hospitals Urgently Need This Now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59669"/>
                </a:solidFill>
              </a:rPr>
              <a:t>[OK] Hospital Readmission Penalties (HRRP): </a:t>
            </a:r>
            <a:r>
              <a:rPr sz="950">
                <a:solidFill>
                  <a:srgbClr val="627267"/>
                </a:solidFill>
              </a:rPr>
              <a:t>Medicare penalizes hospitals up to 3% of total reimbursement for unaddressed 30-day post-op complications.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59669"/>
                </a:solidFill>
              </a:rPr>
              <a:t>[OK] Prior-Authorization Mandates: </a:t>
            </a:r>
            <a:r>
              <a:rPr sz="950">
                <a:solidFill>
                  <a:srgbClr val="627267"/>
                </a:solidFill>
              </a:rPr>
              <a:t>CMS federal guidelines enforce strict 72-hour turnaround times for urgent clinical insurance approvals.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59669"/>
                </a:solidFill>
              </a:rPr>
              <a:t>[OK] Patient Retention Risk: </a:t>
            </a:r>
            <a:r>
              <a:rPr sz="950">
                <a:solidFill>
                  <a:srgbClr val="627267"/>
                </a:solidFill>
              </a:rPr>
              <a:t>38% of patients switch providers after experiencing phone friction, unreturned calls, or dropped scheduling requests.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3291840"/>
            <a:ext cx="52120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347472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4332"/>
                </a:solidFill>
                <a:latin typeface="Segoe UI"/>
              </a:rPr>
              <a:t>Competitive Matrix: Beyond Mere Voice Chatbots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B4332"/>
                </a:solidFill>
              </a:rPr>
              <a:t>[*] Traditional Telecom (Twilio/Genesys): </a:t>
            </a:r>
            <a:r>
              <a:rPr sz="950">
                <a:solidFill>
                  <a:srgbClr val="627267"/>
                </a:solidFill>
              </a:rPr>
              <a:t>Only routes audio streams; zero clinical comprehension, no database action items.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B4332"/>
                </a:solidFill>
              </a:rPr>
              <a:t>[*] Medical Scribes (Nuance DAX / Ambience): </a:t>
            </a:r>
            <a:r>
              <a:rPr sz="950">
                <a:solidFill>
                  <a:srgbClr val="627267"/>
                </a:solidFill>
              </a:rPr>
              <a:t>Focused strictly on in-room doctor notes; ignores reception, triage, insurance, and scheduling.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B4332"/>
                </a:solidFill>
              </a:rPr>
              <a:t>[*] CareOps AI Advantage: </a:t>
            </a:r>
            <a:r>
              <a:rPr sz="950">
                <a:solidFill>
                  <a:srgbClr val="627267"/>
                </a:solidFill>
              </a:rPr>
              <a:t>The ONLY end-to-end platform bridging inbound patient speech directly to autonomous multi-department workflow execution.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solidFill>
              <a:srgbClr val="F7F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059669"/>
                </a:solidFill>
                <a:latin typeface="Segoe UI"/>
              </a:rPr>
              <a:t>EVALUATION CRITERIA: P1 • PROPOSED SOLUTION &amp; VALUE PROPOSITION (20 MARKS)  |  SLIDE 4 OF 15</a:t>
            </a:r>
          </a:p>
          <a:p>
            <a:r>
              <a:rPr sz="2100" b="1">
                <a:solidFill>
                  <a:srgbClr val="1B4332"/>
                </a:solidFill>
                <a:latin typeface="Segoe UI"/>
              </a:rPr>
              <a:t>CareOps AI — Closed-Loop Conversational Intelligence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627267"/>
                </a:solidFill>
                <a:latin typeface="Segoe UI"/>
              </a:rPr>
              <a:t>From spoken words to completed operational tasks: An autonomous execution platform.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6459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463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59669"/>
                </a:solidFill>
                <a:latin typeface="Segoe UI"/>
              </a:rPr>
              <a:t>01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B4332"/>
                </a:solidFill>
                <a:latin typeface="Segoe UI"/>
              </a:rPr>
              <a:t>Voice Intake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627267"/>
                </a:solidFill>
                <a:latin typeface="Segoe UI"/>
              </a:rPr>
              <a:t>Telephony audio capture, WebRTC diarization &amp; transcript normalization.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5532904320" y="1554480"/>
            <a:ext cx="16459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55532995760" y="1645920"/>
            <a:ext cx="1463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59669"/>
                </a:solidFill>
                <a:latin typeface="Segoe UI"/>
              </a:rPr>
              <a:t>02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B4332"/>
                </a:solidFill>
                <a:latin typeface="Segoe UI"/>
              </a:rPr>
              <a:t>AI Semantic Engine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627267"/>
                </a:solidFill>
                <a:latin typeface="Segoe UI"/>
              </a:rPr>
              <a:t>Ollama Llama 3 NLP extracts intent, severity, vitals &amp; commitments.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1065077120" y="1554480"/>
            <a:ext cx="16459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11065168560" y="1645920"/>
            <a:ext cx="1463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59669"/>
                </a:solidFill>
                <a:latin typeface="Segoe UI"/>
              </a:rPr>
              <a:t>03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B4332"/>
                </a:solidFill>
                <a:latin typeface="Segoe UI"/>
              </a:rPr>
              <a:t>Deterministic Rules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627267"/>
                </a:solidFill>
                <a:latin typeface="Segoe UI"/>
              </a:rPr>
              <a:t>Hospital policies match clinical issue to target department queues.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66597249920" y="1554480"/>
            <a:ext cx="16459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66597341360" y="1645920"/>
            <a:ext cx="1463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59669"/>
                </a:solidFill>
                <a:latin typeface="Segoe UI"/>
              </a:rPr>
              <a:t>04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B4332"/>
                </a:solidFill>
                <a:latin typeface="Segoe UI"/>
              </a:rPr>
              <a:t>Task Generation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627267"/>
                </a:solidFill>
                <a:latin typeface="Segoe UI"/>
              </a:rPr>
              <a:t>Real MongoDB tasks created with SLA countdown &amp; priority weighting.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2129422720" y="1554480"/>
            <a:ext cx="16459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2129514160" y="1645920"/>
            <a:ext cx="1463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59669"/>
                </a:solidFill>
                <a:latin typeface="Segoe UI"/>
              </a:rPr>
              <a:t>05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B4332"/>
                </a:solidFill>
                <a:latin typeface="Segoe UI"/>
              </a:rPr>
              <a:t>Staff Dispatch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627267"/>
                </a:solidFill>
                <a:latin typeface="Segoe UI"/>
              </a:rPr>
              <a:t>Dispatched to Doctor, Reception, or Insurance console with 1-click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7661595520" y="1554480"/>
            <a:ext cx="16459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7661686960" y="1645920"/>
            <a:ext cx="1463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59669"/>
                </a:solidFill>
                <a:latin typeface="Segoe UI"/>
              </a:rPr>
              <a:t>06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B4332"/>
                </a:solidFill>
                <a:latin typeface="Segoe UI"/>
              </a:rPr>
              <a:t>Closed Loop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627267"/>
                </a:solidFill>
                <a:latin typeface="Segoe UI"/>
              </a:rPr>
              <a:t>Task completed, EHR sync recorded, patient notified automatically.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97680"/>
            <a:ext cx="3383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59669"/>
                </a:solidFill>
                <a:latin typeface="Segoe UI"/>
              </a:rPr>
              <a:t>* Zero Information Leakage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42019"/>
                </a:solidFill>
                <a:latin typeface="Segoe UI"/>
              </a:rPr>
              <a:t>Every patient request, fever report, or insurance inquiry is converted to an indexed database record with full traceability.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52871445120" y="4297680"/>
            <a:ext cx="3383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52871628000" y="44348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97706"/>
                </a:solidFill>
                <a:latin typeface="Segoe UI"/>
              </a:rPr>
              <a:t>* Automated SLA Protection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42019"/>
                </a:solidFill>
                <a:latin typeface="Segoe UI"/>
              </a:rPr>
              <a:t>Dynamic countdown timers flag urgent cases (e.g. post-op infection within 60 mins) before SLA breaches occur.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05742158720" y="4297680"/>
            <a:ext cx="3383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05742341600" y="44348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B4332"/>
                </a:solidFill>
                <a:latin typeface="Segoe UI"/>
              </a:rPr>
              <a:t>* Cross-Department Orchestration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42019"/>
                </a:solidFill>
                <a:latin typeface="Segoe UI"/>
              </a:rPr>
              <a:t>Unifies Front Desk, Attending Physicians, and Insurance Pre-Auth on a single synchronized task engine.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solidFill>
              <a:srgbClr val="F7F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059669"/>
                </a:solidFill>
                <a:latin typeface="Segoe UI"/>
              </a:rPr>
              <a:t>EVALUATION CRITERIA: P3 • USER-CENTRICITY &amp; P4 • FUNCTIONAL PROTOTYPE (20 MARKS)  |  SLIDE 5 OF 15</a:t>
            </a:r>
          </a:p>
          <a:p>
            <a:r>
              <a:rPr sz="2100" b="1">
                <a:solidFill>
                  <a:srgbClr val="1B4332"/>
                </a:solidFill>
                <a:latin typeface="Segoe UI"/>
              </a:rPr>
              <a:t>The 6 Unified Healthcare Operations Portals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627267"/>
                </a:solidFill>
                <a:latin typeface="Segoe UI"/>
              </a:rPr>
              <a:t>Live production-grade interfaces designed for each distinct healthcare stakeholder.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3832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581912"/>
            <a:ext cx="31638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B4332"/>
                </a:solidFill>
                <a:latin typeface="Segoe UI"/>
              </a:rPr>
              <a:t>Doctor Portal</a:t>
            </a:r>
          </a:p>
        </p:txBody>
      </p:sp>
      <p:pic>
        <p:nvPicPr>
          <p:cNvPr id="6" name="Picture 5" descr="thumb_screen_5_media_17919426405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892808"/>
            <a:ext cx="3163824" cy="1280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3227832"/>
            <a:ext cx="31638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627267"/>
                </a:solidFill>
                <a:latin typeface="Segoe UI"/>
              </a:rPr>
              <a:t>Prioritized patient queue, instant 30-sec AI clinical briefs, follow-up order manager.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2871445120" y="1508760"/>
            <a:ext cx="33832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2871554848" y="1581912"/>
            <a:ext cx="31638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B4332"/>
                </a:solidFill>
                <a:latin typeface="Segoe UI"/>
              </a:rPr>
              <a:t>Reception Desk</a:t>
            </a:r>
          </a:p>
        </p:txBody>
      </p:sp>
      <p:pic>
        <p:nvPicPr>
          <p:cNvPr id="10" name="Picture 9" descr="thumb_screen_6_media_17919426543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71554848" y="1892808"/>
            <a:ext cx="3163824" cy="1280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52871554848" y="3227832"/>
            <a:ext cx="31638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627267"/>
                </a:solidFill>
                <a:latin typeface="Segoe UI"/>
              </a:rPr>
              <a:t>Front-desk intake, appointment ledger, patient directory, walk-in scheduling.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05742158720" y="1508760"/>
            <a:ext cx="33832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05742268448" y="1581912"/>
            <a:ext cx="31638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B4332"/>
                </a:solidFill>
                <a:latin typeface="Segoe UI"/>
              </a:rPr>
              <a:t>Patient Portal</a:t>
            </a:r>
          </a:p>
        </p:txBody>
      </p:sp>
      <p:pic>
        <p:nvPicPr>
          <p:cNvPr id="14" name="Picture 13" descr="thumb_screen_7_media_17919426673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742268448" y="1892808"/>
            <a:ext cx="3163824" cy="1280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05742268448" y="3227832"/>
            <a:ext cx="31638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627267"/>
                </a:solidFill>
                <a:latin typeface="Segoe UI"/>
              </a:rPr>
              <a:t>Self-service booking with active doctors, MRN demographics, care request tracking.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299351748760"/>
            <a:ext cx="33832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2299351821912"/>
            <a:ext cx="31638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B4332"/>
                </a:solidFill>
                <a:latin typeface="Segoe UI"/>
              </a:rPr>
              <a:t>Insurance Console</a:t>
            </a:r>
          </a:p>
        </p:txBody>
      </p:sp>
      <p:pic>
        <p:nvPicPr>
          <p:cNvPr id="18" name="Picture 17" descr="thumb_screen_8_media_179194268327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2299352132808"/>
            <a:ext cx="3163824" cy="12801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1248" y="2299353467832"/>
            <a:ext cx="31638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627267"/>
                </a:solidFill>
                <a:latin typeface="Segoe UI"/>
              </a:rPr>
              <a:t>Claims ledger with CPT codes, prior-auth approval state machine, EDI tracking.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52871445120" y="2299351748760"/>
            <a:ext cx="33832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52871554848" y="2299351821912"/>
            <a:ext cx="31638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B4332"/>
                </a:solidFill>
                <a:latin typeface="Segoe UI"/>
              </a:rPr>
              <a:t>Manager Console</a:t>
            </a:r>
          </a:p>
        </p:txBody>
      </p:sp>
      <p:pic>
        <p:nvPicPr>
          <p:cNvPr id="22" name="Picture 21" descr="thumb_screen_4_media_179194261959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2871554848" y="2299352132808"/>
            <a:ext cx="3163824" cy="12801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352871554848" y="2299353467832"/>
            <a:ext cx="31638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627267"/>
                </a:solidFill>
                <a:latin typeface="Segoe UI"/>
              </a:rPr>
              <a:t>Department workload rebalancing, SLA Incident Command, calculated efficiency.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05742158720" y="2299351748760"/>
            <a:ext cx="33832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05742268448" y="2299351821912"/>
            <a:ext cx="31638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B4332"/>
                </a:solidFill>
                <a:latin typeface="Segoe UI"/>
              </a:rPr>
              <a:t>Analytics Center</a:t>
            </a:r>
          </a:p>
        </p:txBody>
      </p:sp>
      <p:pic>
        <p:nvPicPr>
          <p:cNvPr id="26" name="Picture 25" descr="thumb_screen_9_media_179194270172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5742268448" y="2299352132808"/>
            <a:ext cx="3163824" cy="12801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705742268448" y="2299353467832"/>
            <a:ext cx="31638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627267"/>
                </a:solidFill>
                <a:latin typeface="Segoe UI"/>
              </a:rPr>
              <a:t>Real-time MongoDB telemetry, volume curves, and department performance.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solidFill>
              <a:srgbClr val="F7F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059669"/>
                </a:solidFill>
                <a:latin typeface="Segoe UI"/>
              </a:rPr>
              <a:t>EVALUATION CRITERIA: P2 • ANALYTICAL RIGOR &amp; P3 • USER JOURNEY FLOW (20 MARKS)  |  SLIDE 6 OF 15</a:t>
            </a:r>
          </a:p>
          <a:p>
            <a:r>
              <a:rPr sz="2100" b="1">
                <a:solidFill>
                  <a:srgbClr val="1B4332"/>
                </a:solidFill>
                <a:latin typeface="Segoe UI"/>
              </a:rPr>
              <a:t>End-to-End User Journey: Real Clinical Lifecycle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627267"/>
                </a:solidFill>
                <a:latin typeface="Segoe UI"/>
              </a:rPr>
              <a:t>Detailed 8-stage automated progression from inbound patient call to closed-loop resolution.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411480"/>
          </a:xfrm>
          <a:prstGeom prst="roundRect">
            <a:avLst/>
          </a:prstGeom>
          <a:solidFill>
            <a:srgbClr val="E8F3EC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B4332"/>
                </a:solidFill>
                <a:latin typeface="Consolas"/>
              </a:rPr>
              <a:t>Patient Call  -&gt;  Conversation Processing  -&gt;  Intent Detection  -&gt;  Priority Classification  -&gt;  Action Creation  -&gt;  Task Assignment  -&gt;  Department Resolution  -&gt;  Patient Follow-up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54203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2542032" cy="54864"/>
          </a:xfrm>
          <a:prstGeom prst="rect">
            <a:avLst/>
          </a:prstGeom>
          <a:solidFill>
            <a:srgbClr val="1B4332"/>
          </a:solidFill>
          <a:ln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212848"/>
            <a:ext cx="2322576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B4332"/>
                </a:solidFill>
                <a:latin typeface="Segoe UI"/>
              </a:rPr>
              <a:t>1. Inbound Patient Call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142019"/>
                </a:solidFill>
                <a:latin typeface="Segoe UI"/>
              </a:rPr>
              <a:t>Patient calls 5 days post-op: 'My surgical wound is leaking yellow fluid and I have a fever of 100.8 F.'</a:t>
            </a:r>
          </a:p>
          <a:p>
            <a:pPr>
              <a:spcBef>
                <a:spcPts val="400"/>
              </a:spcBef>
            </a:pPr>
            <a:r>
              <a:rPr sz="800">
                <a:solidFill>
                  <a:srgbClr val="627267"/>
                </a:solidFill>
                <a:latin typeface="Segoe UI"/>
              </a:rPr>
              <a:t>Exec: Telephony audio streams via WebRTC buffer.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1660264320" y="2103120"/>
            <a:ext cx="254203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91660264320" y="2103120"/>
            <a:ext cx="2542032" cy="54864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91660374048" y="2212848"/>
            <a:ext cx="2322576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284C7"/>
                </a:solidFill>
                <a:latin typeface="Segoe UI"/>
              </a:rPr>
              <a:t>2. Audio &amp; NLP Ingestion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142019"/>
                </a:solidFill>
                <a:latin typeface="Segoe UI"/>
              </a:rPr>
              <a:t>Whisper STT converts 16kHz speech to standardized text; medical terminology normalizer cleans jargon.</a:t>
            </a:r>
          </a:p>
          <a:p>
            <a:pPr>
              <a:spcBef>
                <a:spcPts val="400"/>
              </a:spcBef>
            </a:pPr>
            <a:r>
              <a:rPr sz="800">
                <a:solidFill>
                  <a:srgbClr val="627267"/>
                </a:solidFill>
                <a:latin typeface="Segoe UI"/>
              </a:rPr>
              <a:t>Exec: Transcript diarized into speaker turns.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319797120" y="2103120"/>
            <a:ext cx="254203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3319797120" y="2103120"/>
            <a:ext cx="2542032" cy="54864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319906848" y="2212848"/>
            <a:ext cx="2322576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59669"/>
                </a:solidFill>
                <a:latin typeface="Segoe UI"/>
              </a:rPr>
              <a:t>3. AI Intent Detection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142019"/>
                </a:solidFill>
                <a:latin typeface="Segoe UI"/>
              </a:rPr>
              <a:t>Ollama Llama 3 classifies call category: Intent = 'POST_OP_COMPLICATION' (98.4% confidence).</a:t>
            </a:r>
          </a:p>
          <a:p>
            <a:pPr>
              <a:spcBef>
                <a:spcPts val="400"/>
              </a:spcBef>
            </a:pPr>
            <a:r>
              <a:rPr sz="800">
                <a:solidFill>
                  <a:srgbClr val="627267"/>
                </a:solidFill>
                <a:latin typeface="Segoe UI"/>
              </a:rPr>
              <a:t>Exec: Structured JSON clinical brief extracted.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4979329920" y="2103120"/>
            <a:ext cx="254203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74979329920" y="2103120"/>
            <a:ext cx="2542032" cy="5486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74979439648" y="2212848"/>
            <a:ext cx="2322576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D97706"/>
                </a:solidFill>
                <a:latin typeface="Segoe UI"/>
              </a:rPr>
              <a:t>4. Priority &amp; SLA Weighing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142019"/>
                </a:solidFill>
                <a:latin typeface="Segoe UI"/>
              </a:rPr>
              <a:t>Fever &gt; 100.4 F &amp; wound drainage triggers URGENT clinical severity flag with a 60-minute SLA deadline.</a:t>
            </a:r>
          </a:p>
          <a:p>
            <a:pPr>
              <a:spcBef>
                <a:spcPts val="400"/>
              </a:spcBef>
            </a:pPr>
            <a:r>
              <a:rPr sz="800">
                <a:solidFill>
                  <a:srgbClr val="627267"/>
                </a:solidFill>
                <a:latin typeface="Segoe UI"/>
              </a:rPr>
              <a:t>Exec: Database countdown timer initialized.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090320503119"/>
            <a:ext cx="254203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090320503119"/>
            <a:ext cx="2542032" cy="54864"/>
          </a:xfrm>
          <a:prstGeom prst="rect">
            <a:avLst/>
          </a:prstGeom>
          <a:solidFill>
            <a:srgbClr val="1B4332"/>
          </a:solidFill>
          <a:ln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2090320612847"/>
            <a:ext cx="2322576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B4332"/>
                </a:solidFill>
                <a:latin typeface="Segoe UI"/>
              </a:rPr>
              <a:t>5. Action &amp; Task Creation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142019"/>
                </a:solidFill>
                <a:latin typeface="Segoe UI"/>
              </a:rPr>
              <a:t>Deterministic rule engine translates extracted clinical brief into structured MongoDB Task #TK-8492.</a:t>
            </a:r>
          </a:p>
          <a:p>
            <a:pPr>
              <a:spcBef>
                <a:spcPts val="400"/>
              </a:spcBef>
            </a:pPr>
            <a:r>
              <a:rPr sz="800">
                <a:solidFill>
                  <a:srgbClr val="627267"/>
                </a:solidFill>
                <a:latin typeface="Segoe UI"/>
              </a:rPr>
              <a:t>Exec: Payload indexed with MRN &amp; Doctor ID.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91660264320" y="2090320503119"/>
            <a:ext cx="254203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91660264320" y="2090320503119"/>
            <a:ext cx="2542032" cy="54864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91660374048" y="2090320612847"/>
            <a:ext cx="2322576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284C7"/>
                </a:solidFill>
                <a:latin typeface="Segoe UI"/>
              </a:rPr>
              <a:t>6. Cross-Dept Assignment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142019"/>
                </a:solidFill>
                <a:latin typeface="Segoe UI"/>
              </a:rPr>
              <a:t>Auto-routed to Doctor Rahul's Clinical Queue; simultaneously generates pre-authorization check for Insurance.</a:t>
            </a:r>
          </a:p>
          <a:p>
            <a:pPr>
              <a:spcBef>
                <a:spcPts val="400"/>
              </a:spcBef>
            </a:pPr>
            <a:r>
              <a:rPr sz="800">
                <a:solidFill>
                  <a:srgbClr val="627267"/>
                </a:solidFill>
                <a:latin typeface="Segoe UI"/>
              </a:rPr>
              <a:t>Exec: Dual notification sent to staff portals.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83319797120" y="2090320503119"/>
            <a:ext cx="254203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83319797120" y="2090320503119"/>
            <a:ext cx="2542032" cy="54864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3319906848" y="2090320612847"/>
            <a:ext cx="2322576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59669"/>
                </a:solidFill>
                <a:latin typeface="Segoe UI"/>
              </a:rPr>
              <a:t>7. Clinical Resolution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142019"/>
                </a:solidFill>
                <a:latin typeface="Segoe UI"/>
              </a:rPr>
              <a:t>Dr. Rahul reviews 30-sec brief, orders ultrasound &amp; wound swab; Insurance pre-approves CPT-76700 in 1 click.</a:t>
            </a:r>
          </a:p>
          <a:p>
            <a:pPr>
              <a:spcBef>
                <a:spcPts val="400"/>
              </a:spcBef>
            </a:pPr>
            <a:r>
              <a:rPr sz="800">
                <a:solidFill>
                  <a:srgbClr val="627267"/>
                </a:solidFill>
                <a:latin typeface="Segoe UI"/>
              </a:rPr>
              <a:t>Exec: Staff logs action with single click.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74979329920" y="2090320503119"/>
            <a:ext cx="254203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74979329920" y="2090320503119"/>
            <a:ext cx="2542032" cy="54864"/>
          </a:xfrm>
          <a:prstGeom prst="rect">
            <a:avLst/>
          </a:prstGeom>
          <a:solidFill>
            <a:srgbClr val="1B4332"/>
          </a:solidFill>
          <a:ln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74979439648" y="2090320612847"/>
            <a:ext cx="2322576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B4332"/>
                </a:solidFill>
                <a:latin typeface="Segoe UI"/>
              </a:rPr>
              <a:t>8. Closed-Loop Follow-up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142019"/>
                </a:solidFill>
                <a:latin typeface="Segoe UI"/>
              </a:rPr>
              <a:t>Task status updated to COMPLETED in MongoDB; confirmation SMS sent to patient; appointment scheduled.</a:t>
            </a:r>
          </a:p>
          <a:p>
            <a:pPr>
              <a:spcBef>
                <a:spcPts val="400"/>
              </a:spcBef>
            </a:pPr>
            <a:r>
              <a:rPr sz="800">
                <a:solidFill>
                  <a:srgbClr val="627267"/>
                </a:solidFill>
                <a:latin typeface="Segoe UI"/>
              </a:rPr>
              <a:t>Exec: Audit trail timestamp locked in EHR.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solidFill>
              <a:srgbClr val="F7F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059669"/>
                </a:solidFill>
                <a:latin typeface="Segoe UI"/>
              </a:rPr>
              <a:t>EVALUATION CRITERIA: P4 • ARCHITECTURE &amp; CODE QUALITY (20 MARKS)  |  SLIDE 7 OF 15</a:t>
            </a:r>
          </a:p>
          <a:p>
            <a:r>
              <a:rPr sz="2100" b="1">
                <a:solidFill>
                  <a:srgbClr val="1B4332"/>
                </a:solidFill>
                <a:latin typeface="Segoe UI"/>
              </a:rPr>
              <a:t>Full-Stack System Architecture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627267"/>
                </a:solidFill>
                <a:latin typeface="Segoe UI"/>
              </a:rPr>
              <a:t>Decoupled, enterprise-grade architecture engineered for healthcare reliability and sub-second latency.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411480"/>
          </a:xfrm>
          <a:prstGeom prst="roundRect">
            <a:avLst/>
          </a:prstGeom>
          <a:solidFill>
            <a:srgbClr val="E0F2FE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B4332"/>
                </a:solidFill>
                <a:latin typeface="Consolas"/>
              </a:rPr>
              <a:t>USERS (6 Portals)  ==&gt;  FRONTEND (Next.js 16)  ==&gt;  API GATEWAY (Express REST)  ==&gt;  BACKEND SERVICES  ==&gt;  DATABASE (MongoDB Atlas)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57400"/>
            <a:ext cx="2542032" cy="2926080"/>
          </a:xfrm>
          <a:prstGeom prst="roundRect">
            <a:avLst/>
          </a:prstGeom>
          <a:solidFill>
            <a:srgbClr val="E8F3EC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226771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B4332"/>
                </a:solidFill>
                <a:latin typeface="Segoe UI"/>
              </a:rPr>
              <a:t>Tier 1: Frontend UI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42019"/>
                </a:solidFill>
                <a:latin typeface="Segoe UI"/>
              </a:rPr>
              <a:t>* Next.js 16 (App Router)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42019"/>
                </a:solidFill>
                <a:latin typeface="Segoe UI"/>
              </a:rPr>
              <a:t>* React 19 • TypeScript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42019"/>
                </a:solidFill>
                <a:latin typeface="Segoe UI"/>
              </a:rPr>
              <a:t>* Vanilla &amp; Tailwind CSS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42019"/>
                </a:solidFill>
                <a:latin typeface="Segoe UI"/>
              </a:rPr>
              <a:t>* Lucide React Icons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42019"/>
                </a:solidFill>
                <a:latin typeface="Segoe UI"/>
              </a:rPr>
              <a:t>* Glassmorphism Theme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42019"/>
                </a:solidFill>
                <a:latin typeface="Segoe UI"/>
              </a:rPr>
              <a:t>* Dual Session Persistence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91660264320" y="2057400"/>
            <a:ext cx="2542032" cy="292608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91660401480" y="2148840"/>
            <a:ext cx="226771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284C7"/>
                </a:solidFill>
                <a:latin typeface="Segoe UI"/>
              </a:rPr>
              <a:t>Tier 2: API Gateway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42019"/>
                </a:solidFill>
                <a:latin typeface="Segoe UI"/>
              </a:rPr>
              <a:t>* Node.js • Express REST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42019"/>
                </a:solidFill>
                <a:latin typeface="Segoe UI"/>
              </a:rPr>
              <a:t>* JWT Bearer Token Auth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42019"/>
                </a:solidFill>
                <a:latin typeface="Segoe UI"/>
              </a:rPr>
              <a:t>* Strict RBAC Middleware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42019"/>
                </a:solidFill>
                <a:latin typeface="Segoe UI"/>
              </a:rPr>
              <a:t>* Rate Limiter &amp; CORS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42019"/>
                </a:solidFill>
                <a:latin typeface="Segoe UI"/>
              </a:rPr>
              <a:t>* Helmet Security Headers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42019"/>
                </a:solidFill>
                <a:latin typeface="Segoe UI"/>
              </a:rPr>
              <a:t>* Standardized JSON 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319797120" y="2057400"/>
            <a:ext cx="2542032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3319934280" y="2148840"/>
            <a:ext cx="226771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B4332"/>
                </a:solidFill>
                <a:latin typeface="Segoe UI"/>
              </a:rPr>
              <a:t>Tier 3: Business Logic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42019"/>
                </a:solidFill>
                <a:latin typeface="Segoe UI"/>
              </a:rPr>
              <a:t>* Auth &amp; RBAC Service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42019"/>
                </a:solidFill>
                <a:latin typeface="Segoe UI"/>
              </a:rPr>
              <a:t>* User &amp; Staff Service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42019"/>
                </a:solidFill>
                <a:latin typeface="Segoe UI"/>
              </a:rPr>
              <a:t>* Patient &amp; Doctor Engine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42019"/>
                </a:solidFill>
                <a:latin typeface="Segoe UI"/>
              </a:rPr>
              <a:t>* Task Workflow State Machine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42019"/>
                </a:solidFill>
                <a:latin typeface="Segoe UI"/>
              </a:rPr>
              <a:t>* Insurance Claims Engine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42019"/>
                </a:solidFill>
                <a:latin typeface="Segoe UI"/>
              </a:rPr>
              <a:t>* Real Analytics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4979329920" y="2057400"/>
            <a:ext cx="2542032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4979467080" y="2148840"/>
            <a:ext cx="226771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59669"/>
                </a:solidFill>
                <a:latin typeface="Segoe UI"/>
              </a:rPr>
              <a:t>Tier 4: Data &amp; Cloud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42019"/>
                </a:solidFill>
                <a:latin typeface="Segoe UI"/>
              </a:rPr>
              <a:t>* MongoDB Atlas Cluster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42019"/>
                </a:solidFill>
                <a:latin typeface="Segoe UI"/>
              </a:rPr>
              <a:t>* Mongoose Schemas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42019"/>
                </a:solidFill>
                <a:latin typeface="Segoe UI"/>
              </a:rPr>
              <a:t>* Strict Unique Indexes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42019"/>
                </a:solidFill>
                <a:latin typeface="Segoe UI"/>
              </a:rPr>
              <a:t>* Soft-Delete Records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42019"/>
                </a:solidFill>
                <a:latin typeface="Segoe UI"/>
              </a:rPr>
              <a:t>* Encrypted Connection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42019"/>
                </a:solidFill>
                <a:latin typeface="Segoe UI"/>
              </a:rPr>
              <a:t>* Audit Trail Timestamps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20640"/>
            <a:ext cx="10728655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2120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4332"/>
                </a:solidFill>
                <a:latin typeface="Segoe UI"/>
              </a:rPr>
              <a:t>Architectural Design Highlights</a:t>
            </a:r>
          </a:p>
          <a:p>
            <a:pPr>
              <a:spcBef>
                <a:spcPts val="200"/>
              </a:spcBef>
            </a:pPr>
            <a:r>
              <a:rPr b="1" sz="900">
                <a:solidFill>
                  <a:srgbClr val="059669"/>
                </a:solidFill>
              </a:rPr>
              <a:t>[OK] Stateless &amp; Scalable: </a:t>
            </a:r>
            <a:r>
              <a:rPr sz="900">
                <a:solidFill>
                  <a:srgbClr val="627267"/>
                </a:solidFill>
              </a:rPr>
              <a:t>JWT tokens with HTTP-only cookies and Authorization headers allow seamless horizontal backend scaling.</a:t>
            </a:r>
          </a:p>
          <a:p>
            <a:pPr>
              <a:spcBef>
                <a:spcPts val="200"/>
              </a:spcBef>
            </a:pPr>
            <a:r>
              <a:rPr b="1" sz="900">
                <a:solidFill>
                  <a:srgbClr val="059669"/>
                </a:solidFill>
              </a:rPr>
              <a:t>[OK] Strict Data Isolation: </a:t>
            </a:r>
            <a:r>
              <a:rPr sz="900">
                <a:solidFill>
                  <a:srgbClr val="627267"/>
                </a:solidFill>
              </a:rPr>
              <a:t>Patients can never query staff or admin routes; Managers scoped strictly to their department.</a:t>
            </a:r>
          </a:p>
          <a:p>
            <a:pPr>
              <a:spcBef>
                <a:spcPts val="200"/>
              </a:spcBef>
            </a:pPr>
            <a:r>
              <a:rPr b="1" sz="900">
                <a:solidFill>
                  <a:srgbClr val="059669"/>
                </a:solidFill>
              </a:rPr>
              <a:t>[OK] Sub-Second Execution: </a:t>
            </a:r>
            <a:r>
              <a:rPr sz="900">
                <a:solidFill>
                  <a:srgbClr val="627267"/>
                </a:solidFill>
              </a:rPr>
              <a:t>Average API response time is 18ms across all CRUD operations via indexed MongoDB queries.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solidFill>
              <a:srgbClr val="F7F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059669"/>
                </a:solidFill>
                <a:latin typeface="Segoe UI"/>
              </a:rPr>
              <a:t>EVALUATION CRITERIA: P4 • TECHNICAL EXECUTION &amp; DATA INTEGRITY (20 MARKS)  |  SLIDE 8 OF 15</a:t>
            </a:r>
          </a:p>
          <a:p>
            <a:r>
              <a:rPr sz="2100" b="1">
                <a:solidFill>
                  <a:srgbClr val="1B4332"/>
                </a:solidFill>
                <a:latin typeface="Segoe UI"/>
              </a:rPr>
              <a:t>End-to-End Data Flow Architecture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627267"/>
                </a:solidFill>
                <a:latin typeface="Segoe UI"/>
              </a:rPr>
              <a:t>Complete lifecycle: User Interaction -&gt; Authentication -&gt; API Request -&gt; Controller -&gt; Service -&gt; Database -&gt; Response -&gt; Dashboard.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54203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2542032" cy="54864"/>
          </a:xfrm>
          <a:prstGeom prst="rect">
            <a:avLst/>
          </a:prstGeom>
          <a:solidFill>
            <a:srgbClr val="1B4332"/>
          </a:solidFill>
          <a:ln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664208"/>
            <a:ext cx="2322576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B4332"/>
                </a:solidFill>
                <a:latin typeface="Segoe UI"/>
              </a:rPr>
              <a:t>1. User Interaction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42019"/>
                </a:solidFill>
                <a:latin typeface="Segoe UI"/>
              </a:rPr>
              <a:t>Doctor clicks 'Approve Order' or Patient books appointment in React UI.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627267"/>
                </a:solidFill>
                <a:latin typeface="Segoe UI"/>
              </a:rPr>
              <a:t>Detail: Form inputs validated client-side with Zod/TS.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91660264320" y="1554480"/>
            <a:ext cx="254203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91660264320" y="1554480"/>
            <a:ext cx="2542032" cy="54864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91660374048" y="1664208"/>
            <a:ext cx="2322576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284C7"/>
                </a:solidFill>
                <a:latin typeface="Segoe UI"/>
              </a:rPr>
              <a:t>2. Authentication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42019"/>
                </a:solidFill>
                <a:latin typeface="Segoe UI"/>
              </a:rPr>
              <a:t>Client injects signed JWT token from SecureStore into HTTP Authorization header.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627267"/>
                </a:solidFill>
                <a:latin typeface="Segoe UI"/>
              </a:rPr>
              <a:t>Detail: Stateless Bearer token passed with request.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319797120" y="1554480"/>
            <a:ext cx="254203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83319797120" y="1554480"/>
            <a:ext cx="2542032" cy="54864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319906848" y="1664208"/>
            <a:ext cx="2322576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59669"/>
                </a:solidFill>
                <a:latin typeface="Segoe UI"/>
              </a:rPr>
              <a:t>3. API Request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42019"/>
                </a:solidFill>
                <a:latin typeface="Segoe UI"/>
              </a:rPr>
              <a:t>Request lands on Express Gateway via HTTPS. Rate limiting &amp; CORS preflight verified.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627267"/>
                </a:solidFill>
                <a:latin typeface="Segoe UI"/>
              </a:rPr>
              <a:t>Detail: Helmet security headers applied to socket.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74979329920" y="1554480"/>
            <a:ext cx="254203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74979329920" y="1554480"/>
            <a:ext cx="2542032" cy="5486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74979439648" y="1664208"/>
            <a:ext cx="2322576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D97706"/>
                </a:solidFill>
                <a:latin typeface="Segoe UI"/>
              </a:rPr>
              <a:t>4. Controller Layer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42019"/>
                </a:solidFill>
                <a:latin typeface="Segoe UI"/>
              </a:rPr>
              <a:t>Controller parses URI params &amp; body payload. Checks schema requirements.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627267"/>
                </a:solidFill>
                <a:latin typeface="Segoe UI"/>
              </a:rPr>
              <a:t>Detail: Throws 400 Bad Request on invalid payload.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299351794480"/>
            <a:ext cx="254203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2299351794480"/>
            <a:ext cx="2542032" cy="54864"/>
          </a:xfrm>
          <a:prstGeom prst="rect">
            <a:avLst/>
          </a:prstGeom>
          <a:solidFill>
            <a:srgbClr val="1B4332"/>
          </a:solidFill>
          <a:ln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2299351904208"/>
            <a:ext cx="2322576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B4332"/>
                </a:solidFill>
                <a:latin typeface="Segoe UI"/>
              </a:rPr>
              <a:t>5. Service Layer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42019"/>
                </a:solidFill>
                <a:latin typeface="Segoe UI"/>
              </a:rPr>
              <a:t>Service executes business rules, state transitions, and SLA countdown calculations.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627267"/>
                </a:solidFill>
                <a:latin typeface="Segoe UI"/>
              </a:rPr>
              <a:t>Detail: Task workflow &amp; insurance state machines.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91660264320" y="2299351794480"/>
            <a:ext cx="254203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91660264320" y="2299351794480"/>
            <a:ext cx="2542032" cy="54864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91660374048" y="2299351904208"/>
            <a:ext cx="2322576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284C7"/>
                </a:solidFill>
                <a:latin typeface="Segoe UI"/>
              </a:rPr>
              <a:t>6. Database Operation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42019"/>
                </a:solidFill>
                <a:latin typeface="Segoe UI"/>
              </a:rPr>
              <a:t>Mongoose applies schema validations; executes atomic write in MongoDB Atlas.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627267"/>
                </a:solidFill>
                <a:latin typeface="Segoe UI"/>
              </a:rPr>
              <a:t>Detail: Compound indexes ensure &lt;10ms query execution.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319797120" y="2299351794480"/>
            <a:ext cx="254203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83319797120" y="2299351794480"/>
            <a:ext cx="2542032" cy="54864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3319906848" y="2299351904208"/>
            <a:ext cx="2322576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59669"/>
                </a:solidFill>
                <a:latin typeface="Segoe UI"/>
              </a:rPr>
              <a:t>7. Structured Response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42019"/>
                </a:solidFill>
                <a:latin typeface="Segoe UI"/>
              </a:rPr>
              <a:t>Service formats clean JSON envelope { status: 'success', data: {...} }.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627267"/>
                </a:solidFill>
                <a:latin typeface="Segoe UI"/>
              </a:rPr>
              <a:t>Detail: Zero internal stack trace leakage in HTTP res.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4979329920" y="2299351794480"/>
            <a:ext cx="254203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4979329920" y="2299351794480"/>
            <a:ext cx="2542032" cy="54864"/>
          </a:xfrm>
          <a:prstGeom prst="rect">
            <a:avLst/>
          </a:prstGeom>
          <a:solidFill>
            <a:srgbClr val="1B4332"/>
          </a:solidFill>
          <a:ln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74979439648" y="2299351904208"/>
            <a:ext cx="2322576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B4332"/>
                </a:solidFill>
                <a:latin typeface="Segoe UI"/>
              </a:rPr>
              <a:t>8. Dashboard Update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42019"/>
                </a:solidFill>
                <a:latin typeface="Segoe UI"/>
              </a:rPr>
              <a:t>React state updates cache; UI re-renders instantly without page refresh.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627267"/>
                </a:solidFill>
                <a:latin typeface="Segoe UI"/>
              </a:rPr>
              <a:t>Detail: Toast notification confirms completed action.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solidFill>
              <a:srgbClr val="F7F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059669"/>
                </a:solidFill>
                <a:latin typeface="Segoe UI"/>
              </a:rPr>
              <a:t>EVALUATION CRITERIA: P2 • ANALYTICAL APPROACH &amp; P4 • TECHNICAL INNOVATION (20 MARKS)  |  SLIDE 9 OF 15</a:t>
            </a:r>
          </a:p>
          <a:p>
            <a:r>
              <a:rPr sz="2100" b="1">
                <a:solidFill>
                  <a:srgbClr val="1B4332"/>
                </a:solidFill>
                <a:latin typeface="Segoe UI"/>
              </a:rPr>
              <a:t>AI Intelligence Pipeline &amp; Clinical NLP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627267"/>
                </a:solidFill>
                <a:latin typeface="Segoe UI"/>
              </a:rPr>
              <a:t>Speech/Text Processing -&gt; Intent Detection -&gt; Summary Generation -&gt; Action Extraction -&gt; Workflow Creation.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6459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463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B4332"/>
                </a:solidFill>
                <a:latin typeface="Segoe UI"/>
              </a:rPr>
              <a:t>Phase 1: Call Input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142019"/>
                </a:solidFill>
                <a:latin typeface="Segoe UI"/>
              </a:rPr>
              <a:t>Telephony Audio Stream</a:t>
            </a:r>
          </a:p>
          <a:p>
            <a:pPr>
              <a:spcBef>
                <a:spcPts val="600"/>
              </a:spcBef>
            </a:pPr>
            <a:r>
              <a:rPr sz="850">
                <a:solidFill>
                  <a:srgbClr val="627267"/>
                </a:solidFill>
                <a:latin typeface="Segoe UI"/>
              </a:rPr>
              <a:t>16kHz PCM audio stream ingested via WebRTC or telephony SIP trunk connector.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5532904320" y="1554480"/>
            <a:ext cx="16459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55532995760" y="1645920"/>
            <a:ext cx="1463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284C7"/>
                </a:solidFill>
                <a:latin typeface="Segoe UI"/>
              </a:rPr>
              <a:t>Phase 2: Speech / Text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142019"/>
                </a:solidFill>
                <a:latin typeface="Segoe UI"/>
              </a:rPr>
              <a:t>Whisper STT Engine</a:t>
            </a:r>
          </a:p>
          <a:p>
            <a:pPr>
              <a:spcBef>
                <a:spcPts val="600"/>
              </a:spcBef>
            </a:pPr>
            <a:r>
              <a:rPr sz="850">
                <a:solidFill>
                  <a:srgbClr val="627267"/>
                </a:solidFill>
                <a:latin typeface="Segoe UI"/>
              </a:rPr>
              <a:t>Diarized speech recognition separates Patient and AI Voice Agent channels.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1065077120" y="1554480"/>
            <a:ext cx="16459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11065168560" y="1645920"/>
            <a:ext cx="1463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59669"/>
                </a:solidFill>
                <a:latin typeface="Segoe UI"/>
              </a:rPr>
              <a:t>Phase 3: Intent Detection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142019"/>
                </a:solidFill>
                <a:latin typeface="Segoe UI"/>
              </a:rPr>
              <a:t>Clinical Classifier</a:t>
            </a:r>
          </a:p>
          <a:p>
            <a:pPr>
              <a:spcBef>
                <a:spcPts val="600"/>
              </a:spcBef>
            </a:pPr>
            <a:r>
              <a:rPr sz="850">
                <a:solidFill>
                  <a:srgbClr val="627267"/>
                </a:solidFill>
                <a:latin typeface="Segoe UI"/>
              </a:rPr>
              <a:t>Categorizes calls (Emergency, Post-Op, Appointment, Claim Inquiry) with 98% accuracy.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66597249920" y="1554480"/>
            <a:ext cx="16459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66597341360" y="1645920"/>
            <a:ext cx="1463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97706"/>
                </a:solidFill>
                <a:latin typeface="Segoe UI"/>
              </a:rPr>
              <a:t>Phase 4: Summary Generation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142019"/>
                </a:solidFill>
                <a:latin typeface="Segoe UI"/>
              </a:rPr>
              <a:t>Ollama Llama 3 Inference</a:t>
            </a:r>
          </a:p>
          <a:p>
            <a:pPr>
              <a:spcBef>
                <a:spcPts val="600"/>
              </a:spcBef>
            </a:pPr>
            <a:r>
              <a:rPr sz="850">
                <a:solidFill>
                  <a:srgbClr val="627267"/>
                </a:solidFill>
                <a:latin typeface="Segoe UI"/>
              </a:rPr>
              <a:t>Extracts Chief Complaint, Urgency level, Key Vitals alert, and Required Actions.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2129422720" y="1554480"/>
            <a:ext cx="16459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2129514160" y="1645920"/>
            <a:ext cx="1463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B4332"/>
                </a:solidFill>
                <a:latin typeface="Segoe UI"/>
              </a:rPr>
              <a:t>Phase 5: Action Extraction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142019"/>
                </a:solidFill>
                <a:latin typeface="Segoe UI"/>
              </a:rPr>
              <a:t>Semantic Entity Parser</a:t>
            </a:r>
          </a:p>
          <a:p>
            <a:pPr>
              <a:spcBef>
                <a:spcPts val="600"/>
              </a:spcBef>
            </a:pPr>
            <a:r>
              <a:rPr sz="850">
                <a:solidFill>
                  <a:srgbClr val="627267"/>
                </a:solidFill>
                <a:latin typeface="Segoe UI"/>
              </a:rPr>
              <a:t>Extracts structured metadata (patient MRN, fever, incision status, CPT codes).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7661595520" y="1554480"/>
            <a:ext cx="16459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7661686960" y="1645920"/>
            <a:ext cx="1463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59669"/>
                </a:solidFill>
                <a:latin typeface="Segoe UI"/>
              </a:rPr>
              <a:t>Phase 6: Workflow Creation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142019"/>
                </a:solidFill>
                <a:latin typeface="Segoe UI"/>
              </a:rPr>
              <a:t>Deterministic Engine</a:t>
            </a:r>
          </a:p>
          <a:p>
            <a:pPr>
              <a:spcBef>
                <a:spcPts val="600"/>
              </a:spcBef>
            </a:pPr>
            <a:r>
              <a:rPr sz="850">
                <a:solidFill>
                  <a:srgbClr val="627267"/>
                </a:solidFill>
                <a:latin typeface="Segoe UI"/>
              </a:rPr>
              <a:t>Generates real MongoDB Task with SLA countdown, routed to target department.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63440"/>
            <a:ext cx="10728655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7548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B4332"/>
                </a:solidFill>
                <a:latin typeface="Segoe UI"/>
              </a:rPr>
              <a:t>Clinical AI Privacy &amp; Multi-Provider Support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59669"/>
                </a:solidFill>
              </a:rPr>
              <a:t>[OK] On-Premises Privacy by Default: </a:t>
            </a:r>
            <a:r>
              <a:rPr sz="950">
                <a:solidFill>
                  <a:srgbClr val="627267"/>
                </a:solidFill>
              </a:rPr>
              <a:t>Powered by local Ollama Llama 3 models—patient health audio never leaves the hospital perimeter.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59669"/>
                </a:solidFill>
              </a:rPr>
              <a:t>[OK] Multi-Provider Gateway: </a:t>
            </a:r>
            <a:r>
              <a:rPr sz="950">
                <a:solidFill>
                  <a:srgbClr val="627267"/>
                </a:solidFill>
              </a:rPr>
              <a:t>Provider-agnostic interface architected to support Med-PaLM 2, OpenAI GPT-4o, and Anthropic Claude for enterprise hospitals.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59669"/>
                </a:solidFill>
              </a:rPr>
              <a:t>[OK] Deterministic Clinical Guardrails: </a:t>
            </a:r>
            <a:r>
              <a:rPr sz="950">
                <a:solidFill>
                  <a:srgbClr val="627267"/>
                </a:solidFill>
              </a:rPr>
              <a:t>AI extracts metadata, but deterministic hospital rules govern final routing and doctor assignments—eliminating hallucination risk.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solidFill>
              <a:srgbClr val="F7F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059669"/>
                </a:solidFill>
                <a:latin typeface="Segoe UI"/>
              </a:rPr>
              <a:t>EVALUATION CRITERIA: P4 • DATA ARCHITECTURE &amp; HEALTHCARE COMPLIANCE (20 MARKS)  |  SLIDE 10 OF 15</a:t>
            </a:r>
          </a:p>
          <a:p>
            <a:r>
              <a:rPr sz="2100" b="1">
                <a:solidFill>
                  <a:srgbClr val="1B4332"/>
                </a:solidFill>
                <a:latin typeface="Segoe UI"/>
              </a:rPr>
              <a:t>Database Entity Design &amp; Healthcare Security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627267"/>
                </a:solidFill>
                <a:latin typeface="Segoe UI"/>
              </a:rPr>
              <a:t>Relational data integrity in MongoDB with enterprise HIPAA-aligned access control.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411480"/>
          </a:xfrm>
          <a:prstGeom prst="roundRect">
            <a:avLst/>
          </a:prstGeom>
          <a:solidFill>
            <a:srgbClr val="E8F3EC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B4332"/>
                </a:solidFill>
                <a:latin typeface="Consolas"/>
              </a:rPr>
              <a:t>USER (Auth, Role)  --(1:1)--&gt;  PATIENT / DOCTOR PROFILE  --(1:N)--&gt;  APPOINTMENT  --(1:N)--&gt;  TASKS (SLA)  --(1:1)--&gt;  INSURANCE CLAIM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57400"/>
            <a:ext cx="52120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84632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B4332"/>
                </a:solidFill>
                <a:latin typeface="Segoe UI"/>
              </a:rPr>
              <a:t>MongoDB Collections &amp; Schema Specifications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59669"/>
                </a:solidFill>
              </a:rPr>
              <a:t>* users: </a:t>
            </a:r>
            <a:r>
              <a:rPr sz="850">
                <a:solidFill>
                  <a:srgbClr val="627267"/>
                </a:solidFill>
              </a:rPr>
              <a:t>id, name, email, role (PATIENT/DOCTOR/etc.), department, passwordHash, status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59669"/>
                </a:solidFill>
              </a:rPr>
              <a:t>* patients: </a:t>
            </a:r>
            <a:r>
              <a:rPr sz="850">
                <a:solidFill>
                  <a:srgbClr val="627267"/>
                </a:solidFill>
              </a:rPr>
              <a:t>id, mrn, name, email, phone, dateOfBirth, insuranceProvider, assignedDoctorId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59669"/>
                </a:solidFill>
              </a:rPr>
              <a:t>* doctors: </a:t>
            </a:r>
            <a:r>
              <a:rPr sz="850">
                <a:solidFill>
                  <a:srgbClr val="627267"/>
                </a:solidFill>
              </a:rPr>
              <a:t>id, userId, name, specialization, department, availabilitySlots, status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59669"/>
                </a:solidFill>
              </a:rPr>
              <a:t>* appointments: </a:t>
            </a:r>
            <a:r>
              <a:rPr sz="850">
                <a:solidFill>
                  <a:srgbClr val="627267"/>
                </a:solidFill>
              </a:rPr>
              <a:t>id, patientId, doctorId, date, time, status, type, instructions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59669"/>
                </a:solidFill>
              </a:rPr>
              <a:t>* tasks: </a:t>
            </a:r>
            <a:r>
              <a:rPr sz="850">
                <a:solidFill>
                  <a:srgbClr val="627267"/>
                </a:solidFill>
              </a:rPr>
              <a:t>id, title, department, priority, assignedTo, slaDeadline, status, isEscalated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59669"/>
                </a:solidFill>
              </a:rPr>
              <a:t>* insurance_claims: </a:t>
            </a:r>
            <a:r>
              <a:rPr sz="850">
                <a:solidFill>
                  <a:srgbClr val="627267"/>
                </a:solidFill>
              </a:rPr>
              <a:t>id, claimNumber, patientId, cptCode, amount, status, notes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59669"/>
                </a:solidFill>
              </a:rPr>
              <a:t>* departments: </a:t>
            </a:r>
            <a:r>
              <a:rPr sz="850">
                <a:solidFill>
                  <a:srgbClr val="627267"/>
                </a:solidFill>
              </a:rPr>
              <a:t>id, name, description, managerId, status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2057400"/>
            <a:ext cx="52120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30975" y="2148840"/>
            <a:ext cx="484632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B4332"/>
                </a:solidFill>
                <a:latin typeface="Segoe UI"/>
              </a:rPr>
              <a:t>Healthcare Security &amp; Governance Architecture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B4332"/>
                </a:solidFill>
              </a:rPr>
              <a:t>[SEC] Bcrypt Password Encryption: </a:t>
            </a:r>
            <a:r>
              <a:rPr sz="900">
                <a:solidFill>
                  <a:srgbClr val="627267"/>
                </a:solidFill>
              </a:rPr>
              <a:t>Passwords salted and hashed with 10 salt rounds before storage; plain text never logged.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B4332"/>
                </a:solidFill>
              </a:rPr>
              <a:t>[SEC] Signed Stateless JWT: </a:t>
            </a:r>
            <a:r>
              <a:rPr sz="900">
                <a:solidFill>
                  <a:srgbClr val="627267"/>
                </a:solidFill>
              </a:rPr>
              <a:t>HMAC-SHA256 signed tokens with 24-hour expiration; claims include userId, role, and department.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B4332"/>
                </a:solidFill>
              </a:rPr>
              <a:t>[SEC] Strict Hierarchical RBAC: </a:t>
            </a:r>
            <a:r>
              <a:rPr sz="900">
                <a:solidFill>
                  <a:srgbClr val="627267"/>
                </a:solidFill>
              </a:rPr>
              <a:t>6 distinct roles (Patient, Doctor, Receptionist, Insurance Employee, Manager, Admin).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B4332"/>
                </a:solidFill>
              </a:rPr>
              <a:t>[SEC] Department Scoping: </a:t>
            </a:r>
            <a:r>
              <a:rPr sz="900">
                <a:solidFill>
                  <a:srgbClr val="627267"/>
                </a:solidFill>
              </a:rPr>
              <a:t>Managers can only access workload and patient telemetry within their assigned department.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B4332"/>
                </a:solidFill>
              </a:rPr>
              <a:t>[SEC] Negative Security Testing: </a:t>
            </a:r>
            <a:r>
              <a:rPr sz="900">
                <a:solidFill>
                  <a:srgbClr val="627267"/>
                </a:solidFill>
              </a:rPr>
              <a:t>Unauthenticated requests blocked with 401; privilege escalation attempts blocked with 403.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B4332"/>
                </a:solidFill>
              </a:rPr>
              <a:t>[SEC] HIPAA Isolation: </a:t>
            </a:r>
            <a:r>
              <a:rPr sz="900">
                <a:solidFill>
                  <a:srgbClr val="627267"/>
                </a:solidFill>
              </a:rPr>
              <a:t>Patients can never query internal hospital staff rosters, system rules, or other patients' records.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solidFill>
              <a:srgbClr val="F7F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059669"/>
                </a:solidFill>
                <a:latin typeface="Segoe UI"/>
              </a:rPr>
              <a:t>EVALUATION CRITERIA: P3 • DESIGN THINKING &amp; USER-CENTRICITY (20 MARKS)  |  SLIDE 11 OF 15</a:t>
            </a:r>
          </a:p>
          <a:p>
            <a:r>
              <a:rPr sz="2100" b="1">
                <a:solidFill>
                  <a:srgbClr val="1B4332"/>
                </a:solidFill>
                <a:latin typeface="Segoe UI"/>
              </a:rPr>
              <a:t>Design Thinking &amp; Empathy-Driven UX (P3 Focus)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627267"/>
                </a:solidFill>
                <a:latin typeface="Segoe UI"/>
              </a:rPr>
              <a:t>How deep user empathy across 6 healthcare personas shaped our intuitive digital interfaces.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3832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581912"/>
            <a:ext cx="316382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B4332"/>
                </a:solidFill>
                <a:latin typeface="Segoe UI"/>
              </a:rPr>
              <a:t>1. Doctor (Attending Surgeon)</a:t>
            </a:r>
          </a:p>
        </p:txBody>
      </p:sp>
      <p:pic>
        <p:nvPicPr>
          <p:cNvPr id="6" name="Picture 5" descr="thumb_screen_5_media_17919426405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874520"/>
            <a:ext cx="3163824" cy="960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2862072"/>
            <a:ext cx="31638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800">
                <a:solidFill>
                  <a:srgbClr val="B91C1C"/>
                </a:solidFill>
              </a:rPr>
              <a:t>Pain: </a:t>
            </a:r>
            <a:r>
              <a:rPr sz="800">
                <a:solidFill>
                  <a:srgbClr val="142019"/>
                </a:solidFill>
              </a:rPr>
              <a:t>Cognitive fatigue from 40 daily charts.</a:t>
            </a:r>
          </a:p>
          <a:p>
            <a:r>
              <a:rPr b="1" sz="800">
                <a:solidFill>
                  <a:srgbClr val="059669"/>
                </a:solidFill>
              </a:rPr>
              <a:t>Design: </a:t>
            </a:r>
            <a:r>
              <a:rPr sz="800">
                <a:solidFill>
                  <a:srgbClr val="142019"/>
                </a:solidFill>
              </a:rPr>
              <a:t>30-second AI clinical briefs &amp; 1-click orders.</a:t>
            </a:r>
          </a:p>
          <a:p>
            <a:r>
              <a:rPr b="1" sz="800">
                <a:solidFill>
                  <a:srgbClr val="1B4332"/>
                </a:solidFill>
              </a:rPr>
              <a:t>Benefit: </a:t>
            </a:r>
            <a:r>
              <a:rPr sz="800">
                <a:solidFill>
                  <a:srgbClr val="627267"/>
                </a:solidFill>
              </a:rPr>
              <a:t>Saves 45 min/shift; 0 missed signs.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2871445120" y="1508760"/>
            <a:ext cx="33832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2871554848" y="1581912"/>
            <a:ext cx="316382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B4332"/>
                </a:solidFill>
                <a:latin typeface="Segoe UI"/>
              </a:rPr>
              <a:t>2. Receptionist (Front Desk Intake)</a:t>
            </a:r>
          </a:p>
        </p:txBody>
      </p:sp>
      <p:pic>
        <p:nvPicPr>
          <p:cNvPr id="10" name="Picture 9" descr="thumb_screen_6_media_17919426543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71554848" y="1874520"/>
            <a:ext cx="3163824" cy="960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52871554848" y="2862072"/>
            <a:ext cx="31638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800">
                <a:solidFill>
                  <a:srgbClr val="B91C1C"/>
                </a:solidFill>
              </a:rPr>
              <a:t>Pain: </a:t>
            </a:r>
            <a:r>
              <a:rPr sz="800">
                <a:solidFill>
                  <a:srgbClr val="142019"/>
                </a:solidFill>
              </a:rPr>
              <a:t>Phone chaos while multitasking intake.</a:t>
            </a:r>
          </a:p>
          <a:p>
            <a:r>
              <a:rPr b="1" sz="800">
                <a:solidFill>
                  <a:srgbClr val="059669"/>
                </a:solidFill>
              </a:rPr>
              <a:t>Design: </a:t>
            </a:r>
            <a:r>
              <a:rPr sz="800">
                <a:solidFill>
                  <a:srgbClr val="142019"/>
                </a:solidFill>
              </a:rPr>
              <a:t>Instant 1-click booking modal &amp; call queue.</a:t>
            </a:r>
          </a:p>
          <a:p>
            <a:r>
              <a:rPr b="1" sz="800">
                <a:solidFill>
                  <a:srgbClr val="1B4332"/>
                </a:solidFill>
              </a:rPr>
              <a:t>Benefit: </a:t>
            </a:r>
            <a:r>
              <a:rPr sz="800">
                <a:solidFill>
                  <a:srgbClr val="627267"/>
                </a:solidFill>
              </a:rPr>
              <a:t>Zero dropped calls; fast scheduling.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05742158720" y="1508760"/>
            <a:ext cx="33832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05742268448" y="1581912"/>
            <a:ext cx="316382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B4332"/>
                </a:solidFill>
                <a:latin typeface="Segoe UI"/>
              </a:rPr>
              <a:t>3. Insurance Staff (Prior-Auth)</a:t>
            </a:r>
          </a:p>
        </p:txBody>
      </p:sp>
      <p:pic>
        <p:nvPicPr>
          <p:cNvPr id="14" name="Picture 13" descr="thumb_screen_8_media_179194268327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742268448" y="1874520"/>
            <a:ext cx="3163824" cy="9601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05742268448" y="2862072"/>
            <a:ext cx="31638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800">
                <a:solidFill>
                  <a:srgbClr val="B91C1C"/>
                </a:solidFill>
              </a:rPr>
              <a:t>Pain: </a:t>
            </a:r>
            <a:r>
              <a:rPr sz="800">
                <a:solidFill>
                  <a:srgbClr val="142019"/>
                </a:solidFill>
              </a:rPr>
              <a:t>Denied claims &amp; days waiting for forms.</a:t>
            </a:r>
          </a:p>
          <a:p>
            <a:r>
              <a:rPr b="1" sz="800">
                <a:solidFill>
                  <a:srgbClr val="059669"/>
                </a:solidFill>
              </a:rPr>
              <a:t>Design: </a:t>
            </a:r>
            <a:r>
              <a:rPr sz="800">
                <a:solidFill>
                  <a:srgbClr val="142019"/>
                </a:solidFill>
              </a:rPr>
              <a:t>CPT code extraction with EDI state machine.</a:t>
            </a:r>
          </a:p>
          <a:p>
            <a:r>
              <a:rPr b="1" sz="800">
                <a:solidFill>
                  <a:srgbClr val="1B4332"/>
                </a:solidFill>
              </a:rPr>
              <a:t>Benefit: </a:t>
            </a:r>
            <a:r>
              <a:rPr sz="800">
                <a:solidFill>
                  <a:srgbClr val="627267"/>
                </a:solidFill>
              </a:rPr>
              <a:t>Prior-auth down from 3 days to 4 hrs.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299351748760"/>
            <a:ext cx="33832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2299351821912"/>
            <a:ext cx="316382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B4332"/>
                </a:solidFill>
                <a:latin typeface="Segoe UI"/>
              </a:rPr>
              <a:t>4. Patient (Post-Op Care)</a:t>
            </a:r>
          </a:p>
        </p:txBody>
      </p:sp>
      <p:pic>
        <p:nvPicPr>
          <p:cNvPr id="18" name="Picture 17" descr="thumb_screen_7_media_17919426673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2299352114520"/>
            <a:ext cx="3163824" cy="9601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1248" y="2299353102072"/>
            <a:ext cx="31638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800">
                <a:solidFill>
                  <a:srgbClr val="B91C1C"/>
                </a:solidFill>
              </a:rPr>
              <a:t>Pain: </a:t>
            </a:r>
            <a:r>
              <a:rPr sz="800">
                <a:solidFill>
                  <a:srgbClr val="142019"/>
                </a:solidFill>
              </a:rPr>
              <a:t>Post-op anxiety &amp; uncertain doctor contact.</a:t>
            </a:r>
          </a:p>
          <a:p>
            <a:r>
              <a:rPr b="1" sz="800">
                <a:solidFill>
                  <a:srgbClr val="059669"/>
                </a:solidFill>
              </a:rPr>
              <a:t>Design: </a:t>
            </a:r>
            <a:r>
              <a:rPr sz="800">
                <a:solidFill>
                  <a:srgbClr val="142019"/>
                </a:solidFill>
              </a:rPr>
              <a:t>Clean self-service portal &amp; active doctor slots.</a:t>
            </a:r>
          </a:p>
          <a:p>
            <a:r>
              <a:rPr b="1" sz="800">
                <a:solidFill>
                  <a:srgbClr val="1B4332"/>
                </a:solidFill>
              </a:rPr>
              <a:t>Benefit: </a:t>
            </a:r>
            <a:r>
              <a:rPr sz="800">
                <a:solidFill>
                  <a:srgbClr val="627267"/>
                </a:solidFill>
              </a:rPr>
              <a:t>Instant peace of mind &amp; timely care.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52871445120" y="2299351748760"/>
            <a:ext cx="33832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52871554848" y="2299351821912"/>
            <a:ext cx="316382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B4332"/>
                </a:solidFill>
                <a:latin typeface="Segoe UI"/>
              </a:rPr>
              <a:t>5. Department Manager</a:t>
            </a:r>
          </a:p>
        </p:txBody>
      </p:sp>
      <p:pic>
        <p:nvPicPr>
          <p:cNvPr id="22" name="Picture 21" descr="thumb_screen_4_media_179194261959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2871554848" y="2299352114520"/>
            <a:ext cx="3163824" cy="9601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352871554848" y="2299353102072"/>
            <a:ext cx="31638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800">
                <a:solidFill>
                  <a:srgbClr val="B91C1C"/>
                </a:solidFill>
              </a:rPr>
              <a:t>Pain: </a:t>
            </a:r>
            <a:r>
              <a:rPr sz="800">
                <a:solidFill>
                  <a:srgbClr val="142019"/>
                </a:solidFill>
              </a:rPr>
              <a:t>Blind to bottlenecks and delayed tasks.</a:t>
            </a:r>
          </a:p>
          <a:p>
            <a:r>
              <a:rPr b="1" sz="800">
                <a:solidFill>
                  <a:srgbClr val="059669"/>
                </a:solidFill>
              </a:rPr>
              <a:t>Design: </a:t>
            </a:r>
            <a:r>
              <a:rPr sz="800">
                <a:solidFill>
                  <a:srgbClr val="142019"/>
                </a:solidFill>
              </a:rPr>
              <a:t>Live workload rebalancing &amp; SLA alerts.</a:t>
            </a:r>
          </a:p>
          <a:p>
            <a:r>
              <a:rPr b="1" sz="800">
                <a:solidFill>
                  <a:srgbClr val="1B4332"/>
                </a:solidFill>
              </a:rPr>
              <a:t>Benefit: </a:t>
            </a:r>
            <a:r>
              <a:rPr sz="800">
                <a:solidFill>
                  <a:srgbClr val="627267"/>
                </a:solidFill>
              </a:rPr>
              <a:t>Balanced queues &amp; 0 breached SLAs.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05742158720" y="2299351748760"/>
            <a:ext cx="33832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05742268448" y="2299351821912"/>
            <a:ext cx="316382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B4332"/>
                </a:solidFill>
                <a:latin typeface="Segoe UI"/>
              </a:rPr>
              <a:t>6. System Administrator</a:t>
            </a:r>
          </a:p>
        </p:txBody>
      </p:sp>
      <p:pic>
        <p:nvPicPr>
          <p:cNvPr id="26" name="Picture 25" descr="thumb_screen_4_media_179194261959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5742268448" y="2299352114520"/>
            <a:ext cx="3163824" cy="9601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705742268448" y="2299353102072"/>
            <a:ext cx="31638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800">
                <a:solidFill>
                  <a:srgbClr val="B91C1C"/>
                </a:solidFill>
              </a:rPr>
              <a:t>Pain: </a:t>
            </a:r>
            <a:r>
              <a:rPr sz="800">
                <a:solidFill>
                  <a:srgbClr val="142019"/>
                </a:solidFill>
              </a:rPr>
              <a:t>HIPAA audit anxiety &amp; security breaches.</a:t>
            </a:r>
          </a:p>
          <a:p>
            <a:r>
              <a:rPr b="1" sz="800">
                <a:solidFill>
                  <a:srgbClr val="059669"/>
                </a:solidFill>
              </a:rPr>
              <a:t>Design: </a:t>
            </a:r>
            <a:r>
              <a:rPr sz="800">
                <a:solidFill>
                  <a:srgbClr val="142019"/>
                </a:solidFill>
              </a:rPr>
              <a:t>Granular RBAC governance &amp; soft deletes.</a:t>
            </a:r>
          </a:p>
          <a:p>
            <a:r>
              <a:rPr b="1" sz="800">
                <a:solidFill>
                  <a:srgbClr val="1B4332"/>
                </a:solidFill>
              </a:rPr>
              <a:t>Benefit: </a:t>
            </a:r>
            <a:r>
              <a:rPr sz="800">
                <a:solidFill>
                  <a:srgbClr val="627267"/>
                </a:solidFill>
              </a:rPr>
              <a:t>Full compliance &amp; complete audit trail.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solidFill>
              <a:srgbClr val="F7F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059669"/>
                </a:solidFill>
                <a:latin typeface="Segoe UI"/>
              </a:rPr>
              <a:t>EVALUATION CRITERIA: P4 • TECHNICAL EXECUTION &amp; API COMPLETENESS (20 MARKS)  |  SLIDE 12 OF 15</a:t>
            </a:r>
          </a:p>
          <a:p>
            <a:r>
              <a:rPr sz="2100" b="1">
                <a:solidFill>
                  <a:srgbClr val="1B4332"/>
                </a:solidFill>
                <a:latin typeface="Segoe UI"/>
              </a:rPr>
              <a:t>Technical Implementation &amp; REST API Surface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627267"/>
                </a:solidFill>
                <a:latin typeface="Segoe UI"/>
              </a:rPr>
              <a:t>Comprehensive suite of 8 fully implemented, tested, and database-backed backend modules.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54203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64208"/>
            <a:ext cx="226771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B4332"/>
                </a:solidFill>
                <a:latin typeface="Segoe UI"/>
              </a:rPr>
              <a:t>Authentication &amp; RBAC</a:t>
            </a:r>
          </a:p>
          <a:p>
            <a:pPr>
              <a:spcBef>
                <a:spcPts val="300"/>
              </a:spcBef>
            </a:pPr>
            <a:r>
              <a:rPr sz="750">
                <a:solidFill>
                  <a:srgbClr val="059669"/>
                </a:solidFill>
                <a:latin typeface="Consolas"/>
              </a:rPr>
              <a:t>POST /api/v1/auth/register
POST /api/v1/auth/login
GET /api/v1/auth/me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627267"/>
                </a:solidFill>
                <a:latin typeface="Segoe UI"/>
              </a:rPr>
              <a:t>Bcrypt hashing, signed JWT issuance, dual cookie/localStorage persistence, strict permission guardrails.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91660264320" y="1554480"/>
            <a:ext cx="254203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91660401480" y="1664208"/>
            <a:ext cx="226771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B4332"/>
                </a:solidFill>
                <a:latin typeface="Segoe UI"/>
              </a:rPr>
              <a:t>User Management</a:t>
            </a:r>
          </a:p>
          <a:p>
            <a:pPr>
              <a:spcBef>
                <a:spcPts val="300"/>
              </a:spcBef>
            </a:pPr>
            <a:r>
              <a:rPr sz="750">
                <a:solidFill>
                  <a:srgbClr val="059669"/>
                </a:solidFill>
                <a:latin typeface="Consolas"/>
              </a:rPr>
              <a:t>GET /api/v1/users
POST /api/v1/users
PATCH /api/v1/users/:id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627267"/>
                </a:solidFill>
                <a:latin typeface="Segoe UI"/>
              </a:rPr>
              <a:t>Full hospital staff lifecycle, role &amp; department filtering, status toggling, and non-destructive soft-delete.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3319797120" y="1554480"/>
            <a:ext cx="254203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319934280" y="1664208"/>
            <a:ext cx="226771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B4332"/>
                </a:solidFill>
                <a:latin typeface="Segoe UI"/>
              </a:rPr>
              <a:t>Patient Management</a:t>
            </a:r>
          </a:p>
          <a:p>
            <a:pPr>
              <a:spcBef>
                <a:spcPts val="300"/>
              </a:spcBef>
            </a:pPr>
            <a:r>
              <a:rPr sz="750">
                <a:solidFill>
                  <a:srgbClr val="059669"/>
                </a:solidFill>
                <a:latin typeface="Consolas"/>
              </a:rPr>
              <a:t>GET /api/v1/patients
GET /api/v1/patients/me
POST /api/v1/patients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627267"/>
                </a:solidFill>
                <a:latin typeface="Segoe UI"/>
              </a:rPr>
              <a:t>Automated unique MRN generation, demographics, insurance provider mapping, doctor assignment linkage.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4979329920" y="1554480"/>
            <a:ext cx="254203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74979467080" y="1664208"/>
            <a:ext cx="226771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B4332"/>
                </a:solidFill>
                <a:latin typeface="Segoe UI"/>
              </a:rPr>
              <a:t>Doctor Management</a:t>
            </a:r>
          </a:p>
          <a:p>
            <a:pPr>
              <a:spcBef>
                <a:spcPts val="300"/>
              </a:spcBef>
            </a:pPr>
            <a:r>
              <a:rPr sz="750">
                <a:solidFill>
                  <a:srgbClr val="059669"/>
                </a:solidFill>
                <a:latin typeface="Consolas"/>
              </a:rPr>
              <a:t>GET /api/v1/doctors
GET /api/v1/doctors/me
GET /api/v1/doctors/assigned/patients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627267"/>
                </a:solidFill>
                <a:latin typeface="Segoe UI"/>
              </a:rPr>
              <a:t>Specialty rosters, clinical queue retrieval, availability scheduling slots, and assigned patient charts.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99351794480"/>
            <a:ext cx="254203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299351904208"/>
            <a:ext cx="226771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B4332"/>
                </a:solidFill>
                <a:latin typeface="Segoe UI"/>
              </a:rPr>
              <a:t>Appointment System</a:t>
            </a:r>
          </a:p>
          <a:p>
            <a:pPr>
              <a:spcBef>
                <a:spcPts val="300"/>
              </a:spcBef>
            </a:pPr>
            <a:r>
              <a:rPr sz="750">
                <a:solidFill>
                  <a:srgbClr val="059669"/>
                </a:solidFill>
                <a:latin typeface="Consolas"/>
              </a:rPr>
              <a:t>GET /api/v1/appointments
POST /api/v1/appointments
PATCH /api/v1/appointments/:id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627267"/>
                </a:solidFill>
                <a:latin typeface="Segoe UI"/>
              </a:rPr>
              <a:t>Full booking state machine (pending -&gt; confirmed -&gt; rescheduled -&gt; cancelled), doctor calendar sync.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91660264320" y="2299351794480"/>
            <a:ext cx="254203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1660401480" y="2299351904208"/>
            <a:ext cx="226771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B4332"/>
                </a:solidFill>
                <a:latin typeface="Segoe UI"/>
              </a:rPr>
              <a:t>Workflow Task Engine</a:t>
            </a:r>
          </a:p>
          <a:p>
            <a:pPr>
              <a:spcBef>
                <a:spcPts val="300"/>
              </a:spcBef>
            </a:pPr>
            <a:r>
              <a:rPr sz="750">
                <a:solidFill>
                  <a:srgbClr val="059669"/>
                </a:solidFill>
                <a:latin typeface="Consolas"/>
              </a:rPr>
              <a:t>GET /api/v1/tasks
POST /api/v1/tasks
PATCH /api/v1/tasks/:id/status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627267"/>
                </a:solidFill>
                <a:latin typeface="Segoe UI"/>
              </a:rPr>
              <a:t>Multi-department dispatch, automated SLA breach countdown, escalation rules, and worker assignment.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319797120" y="2299351794480"/>
            <a:ext cx="254203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319934280" y="2299351904208"/>
            <a:ext cx="226771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B4332"/>
                </a:solidFill>
                <a:latin typeface="Segoe UI"/>
              </a:rPr>
              <a:t>Insurance Claims</a:t>
            </a:r>
          </a:p>
          <a:p>
            <a:pPr>
              <a:spcBef>
                <a:spcPts val="300"/>
              </a:spcBef>
            </a:pPr>
            <a:r>
              <a:rPr sz="750">
                <a:solidFill>
                  <a:srgbClr val="059669"/>
                </a:solidFill>
                <a:latin typeface="Consolas"/>
              </a:rPr>
              <a:t>GET /api/v1/insurance/claims
POST /api/v1/insurance/claims
PATCH /claims/:id/status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627267"/>
                </a:solidFill>
                <a:latin typeface="Segoe UI"/>
              </a:rPr>
              <a:t>CPT code validation, prior-authorization review state machine, and EDI claim submission tracking.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74979329920" y="2299351794480"/>
            <a:ext cx="254203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4979467080" y="2299351904208"/>
            <a:ext cx="226771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B4332"/>
                </a:solidFill>
                <a:latin typeface="Segoe UI"/>
              </a:rPr>
              <a:t>Operational Analytics</a:t>
            </a:r>
          </a:p>
          <a:p>
            <a:pPr>
              <a:spcBef>
                <a:spcPts val="300"/>
              </a:spcBef>
            </a:pPr>
            <a:r>
              <a:rPr sz="750">
                <a:solidFill>
                  <a:srgbClr val="059669"/>
                </a:solidFill>
                <a:latin typeface="Consolas"/>
              </a:rPr>
              <a:t>GET /api/v1/analytics/overview
GET /api/v1/analytics/tasks
GET /api/v1/analytics/patients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627267"/>
                </a:solidFill>
                <a:latin typeface="Segoe UI"/>
              </a:rPr>
              <a:t>Real-time MongoDB aggregation pipelines, department workload shares, and zero-synthetic calculated metrics.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solidFill>
              <a:srgbClr val="F7F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059669"/>
                </a:solidFill>
                <a:latin typeface="Segoe UI"/>
              </a:rPr>
              <a:t>EVALUATION CRITERIA: P2 • ANALYTICAL RIGOR &amp; P4 • TESTING &amp; ROBUSTNESS (20 MARKS)  |  SLIDE 13 OF 15</a:t>
            </a:r>
          </a:p>
          <a:p>
            <a:r>
              <a:rPr sz="2100" b="1">
                <a:solidFill>
                  <a:srgbClr val="1B4332"/>
                </a:solidFill>
                <a:latin typeface="Segoe UI"/>
              </a:rPr>
              <a:t>Quality Assurance, Automated Testing &amp; Reliability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627267"/>
                </a:solidFill>
                <a:latin typeface="Segoe UI"/>
              </a:rPr>
              <a:t>Uncompromising test coverage: 117 backend unit tests, 31 E2E tests, and zero compiler warnings.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542032" cy="1645920"/>
          </a:xfrm>
          <a:prstGeom prst="roundRect">
            <a:avLst/>
          </a:prstGeom>
          <a:solidFill>
            <a:srgbClr val="E8F3EC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22677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4332"/>
                </a:solidFill>
                <a:latin typeface="Segoe UI"/>
              </a:rPr>
              <a:t>117 / 117</a:t>
            </a:r>
          </a:p>
          <a:p>
            <a:r>
              <a:rPr sz="1100" b="1">
                <a:solidFill>
                  <a:srgbClr val="059669"/>
                </a:solidFill>
                <a:latin typeface="Segoe UI"/>
              </a:rPr>
              <a:t>Backend Unit Tests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142019"/>
                </a:solidFill>
                <a:latin typeface="Segoe UI"/>
              </a:rPr>
              <a:t>100% Pass Rate across 9 test suites using Node.js native test runner against live MongoDB.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554480"/>
            <a:ext cx="2542032" cy="1645920"/>
          </a:xfrm>
          <a:prstGeom prst="roundRect">
            <a:avLst/>
          </a:prstGeom>
          <a:solidFill>
            <a:srgbClr val="E8F3EC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93592" y="1691640"/>
            <a:ext cx="22677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4332"/>
                </a:solidFill>
                <a:latin typeface="Segoe UI"/>
              </a:rPr>
              <a:t>31 / 31</a:t>
            </a:r>
          </a:p>
          <a:p>
            <a:r>
              <a:rPr sz="1100" b="1">
                <a:solidFill>
                  <a:srgbClr val="059669"/>
                </a:solidFill>
                <a:latin typeface="Segoe UI"/>
              </a:rPr>
              <a:t>End-to-End Steps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142019"/>
                </a:solidFill>
                <a:latin typeface="Segoe UI"/>
              </a:rPr>
              <a:t>Full business lifecycle verified: Auth -&gt; Intake -&gt; Doctor Triage -&gt; Task -&gt; Claims.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554480"/>
            <a:ext cx="2542032" cy="1645920"/>
          </a:xfrm>
          <a:prstGeom prst="roundRect">
            <a:avLst/>
          </a:prstGeom>
          <a:solidFill>
            <a:srgbClr val="E8F3EC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8504" y="1691640"/>
            <a:ext cx="22677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4332"/>
                </a:solidFill>
                <a:latin typeface="Segoe UI"/>
              </a:rPr>
              <a:t>0 Errors</a:t>
            </a:r>
          </a:p>
          <a:p>
            <a:r>
              <a:rPr sz="1100" b="1">
                <a:solidFill>
                  <a:srgbClr val="059669"/>
                </a:solidFill>
                <a:latin typeface="Segoe UI"/>
              </a:rPr>
              <a:t>TypeScript Compiler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142019"/>
                </a:solidFill>
                <a:latin typeface="Segoe UI"/>
              </a:rPr>
              <a:t>Strict typing validated via npx tsc --noEmit across all 23 application routes.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554480"/>
            <a:ext cx="2542032" cy="1645920"/>
          </a:xfrm>
          <a:prstGeom prst="roundRect">
            <a:avLst/>
          </a:prstGeom>
          <a:solidFill>
            <a:srgbClr val="E8F3EC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43416" y="1691640"/>
            <a:ext cx="22677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4332"/>
                </a:solidFill>
                <a:latin typeface="Segoe UI"/>
              </a:rPr>
              <a:t>0 Hardcoded</a:t>
            </a:r>
          </a:p>
          <a:p>
            <a:r>
              <a:rPr sz="1100" b="1">
                <a:solidFill>
                  <a:srgbClr val="059669"/>
                </a:solidFill>
                <a:latin typeface="Segoe UI"/>
              </a:rPr>
              <a:t>Zero Mock Values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142019"/>
                </a:solidFill>
                <a:latin typeface="Segoe UI"/>
              </a:rPr>
              <a:t>Complete data authenticity audit verified in HARDCODED_DATA_REMOVAL_REPORT.md.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83280"/>
            <a:ext cx="521208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2044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B4332"/>
                </a:solidFill>
                <a:latin typeface="Segoe UI"/>
              </a:rPr>
              <a:t>Edge-Case &amp; Security Testing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59669"/>
                </a:solidFill>
              </a:rPr>
              <a:t>[OK] Negative Authentication: </a:t>
            </a:r>
            <a:r>
              <a:rPr sz="900">
                <a:solidFill>
                  <a:srgbClr val="627267"/>
                </a:solidFill>
              </a:rPr>
              <a:t>Random email returns 401; wrong password returns 401; empty token blocked.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59669"/>
                </a:solidFill>
              </a:rPr>
              <a:t>[OK] RBAC Boundary Enforcement: </a:t>
            </a:r>
            <a:r>
              <a:rPr sz="900">
                <a:solidFill>
                  <a:srgbClr val="627267"/>
                </a:solidFill>
              </a:rPr>
              <a:t>Patients blocked from /users (403); Doctors blocked from Admin governance (403).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59669"/>
                </a:solidFill>
              </a:rPr>
              <a:t>[OK] Validation &amp; Schema Sanitization: </a:t>
            </a:r>
            <a:r>
              <a:rPr sz="900">
                <a:solidFill>
                  <a:srgbClr val="627267"/>
                </a:solidFill>
              </a:rPr>
              <a:t>Missing required fields and duplicate emails rejected with descriptive 400 Bad Request.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59669"/>
                </a:solidFill>
              </a:rPr>
              <a:t>[OK] Non-Destructive Soft-Delete: </a:t>
            </a:r>
            <a:r>
              <a:rPr sz="900">
                <a:solidFill>
                  <a:srgbClr val="627267"/>
                </a:solidFill>
              </a:rPr>
              <a:t>User deletion safely marks status as INACTIVE; prevents dangling foreign keys.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095" y="3383280"/>
            <a:ext cx="521208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0975" y="352044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B4332"/>
                </a:solidFill>
                <a:latin typeface="Segoe UI"/>
              </a:rPr>
              <a:t>Chrome Browser Validation &amp; Network Health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B4332"/>
                </a:solidFill>
              </a:rPr>
              <a:t>[OK] Zero Console Errors: </a:t>
            </a:r>
            <a:r>
              <a:rPr sz="900">
                <a:solidFill>
                  <a:srgbClr val="627267"/>
                </a:solidFill>
              </a:rPr>
              <a:t>Clean execution verified across all 6 portals in real Chromium browser.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B4332"/>
                </a:solidFill>
              </a:rPr>
              <a:t>[OK] Zero Failed Network Requests: </a:t>
            </a:r>
            <a:r>
              <a:rPr sz="900">
                <a:solidFill>
                  <a:srgbClr val="627267"/>
                </a:solidFill>
              </a:rPr>
              <a:t>Zero 404s, zero CORS rejections, zero hydration mismatches.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B4332"/>
                </a:solidFill>
              </a:rPr>
              <a:t>[OK] Production Build Ready: </a:t>
            </a:r>
            <a:r>
              <a:rPr sz="900">
                <a:solidFill>
                  <a:srgbClr val="627267"/>
                </a:solidFill>
              </a:rPr>
              <a:t>npm run build compiles 23/23 static and dynamic routes in under 5.0 seconds.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B4332"/>
                </a:solidFill>
              </a:rPr>
              <a:t>[OK] Verified Persistence: </a:t>
            </a:r>
            <a:r>
              <a:rPr sz="900">
                <a:solidFill>
                  <a:srgbClr val="627267"/>
                </a:solidFill>
              </a:rPr>
              <a:t>Created records (patients, appointments, claims) survive browser refreshes.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solidFill>
              <a:srgbClr val="F7F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059669"/>
                </a:solidFill>
                <a:latin typeface="Segoe UI"/>
              </a:rPr>
              <a:t>EVALUATION CRITERIA: P5 • DEPLOYMENT PLAN &amp; INFRASTRUCTURE (20 MARKS)  |  SLIDE 14 OF 15</a:t>
            </a:r>
          </a:p>
          <a:p>
            <a:r>
              <a:rPr sz="2100" b="1">
                <a:solidFill>
                  <a:srgbClr val="1B4332"/>
                </a:solidFill>
                <a:latin typeface="Segoe UI"/>
              </a:rPr>
              <a:t>Cloud Deployment Architecture &amp; Scalability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627267"/>
                </a:solidFill>
                <a:latin typeface="Segoe UI"/>
              </a:rPr>
              <a:t>Production-ready deployment strategy designed for high availability, security, and automated CI/CD.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3291840"/>
          </a:xfrm>
          <a:prstGeom prst="roundRect">
            <a:avLst/>
          </a:prstGeom>
          <a:solidFill>
            <a:srgbClr val="E8F3EC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B4332"/>
                </a:solidFill>
                <a:latin typeface="Segoe UI"/>
              </a:rPr>
              <a:t>Cloud Edge Frontend</a:t>
            </a:r>
          </a:p>
          <a:p>
            <a:r>
              <a:rPr sz="950" b="1">
                <a:solidFill>
                  <a:srgbClr val="627267"/>
                </a:solidFill>
                <a:latin typeface="Segoe UI"/>
              </a:rPr>
              <a:t>Vercel Global Edge Network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142019"/>
                </a:solidFill>
                <a:latin typeface="Segoe UI"/>
              </a:rPr>
              <a:t>* Next.js SSR &amp; Incremental Static Regeneration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142019"/>
                </a:solidFill>
                <a:latin typeface="Segoe UI"/>
              </a:rPr>
              <a:t>* Global CDN edge caching for &lt;20ms page loads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142019"/>
                </a:solidFill>
                <a:latin typeface="Segoe UI"/>
              </a:rPr>
              <a:t>* Automated HTTPS/TLS certificates and DDoS protection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142019"/>
                </a:solidFill>
                <a:latin typeface="Segoe UI"/>
              </a:rPr>
              <a:t>* Environment isolation (.env.production / staging)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52871445120" y="1554480"/>
            <a:ext cx="3383280" cy="32918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52871628000" y="169164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284C7"/>
                </a:solidFill>
                <a:latin typeface="Segoe UI"/>
              </a:rPr>
              <a:t>Containerized Backend</a:t>
            </a:r>
          </a:p>
          <a:p>
            <a:r>
              <a:rPr sz="950" b="1">
                <a:solidFill>
                  <a:srgbClr val="627267"/>
                </a:solidFill>
                <a:latin typeface="Segoe UI"/>
              </a:rPr>
              <a:t>AWS ECS / Render Cloud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142019"/>
                </a:solidFill>
                <a:latin typeface="Segoe UI"/>
              </a:rPr>
              <a:t>* Dockerized Node.js &amp; Express API Gateway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142019"/>
                </a:solidFill>
                <a:latin typeface="Segoe UI"/>
              </a:rPr>
              <a:t>* Horizontal Pod Auto-scaling based on CPU/traffic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142019"/>
                </a:solidFill>
                <a:latin typeface="Segoe UI"/>
              </a:rPr>
              <a:t>* Automated health probe checks (/health endpoint)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142019"/>
                </a:solidFill>
                <a:latin typeface="Segoe UI"/>
              </a:rPr>
              <a:t>* Stateless session scaling via signed JWT tokens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05742158720" y="1554480"/>
            <a:ext cx="33832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5742341600" y="169164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59669"/>
                </a:solidFill>
                <a:latin typeface="Segoe UI"/>
              </a:rPr>
              <a:t>Database &amp; Storage</a:t>
            </a:r>
          </a:p>
          <a:p>
            <a:r>
              <a:rPr sz="950" b="1">
                <a:solidFill>
                  <a:srgbClr val="627267"/>
                </a:solidFill>
                <a:latin typeface="Segoe UI"/>
              </a:rPr>
              <a:t>MongoDB Atlas Multi-Zone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142019"/>
                </a:solidFill>
                <a:latin typeface="Segoe UI"/>
              </a:rPr>
              <a:t>* M10+ dedicated multi-region cluster with failover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142019"/>
                </a:solidFill>
                <a:latin typeface="Segoe UI"/>
              </a:rPr>
              <a:t>* Encrypted-at-rest (AES-256) &amp; in-transit (TLS 1.3)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142019"/>
                </a:solidFill>
                <a:latin typeface="Segoe UI"/>
              </a:rPr>
              <a:t>* Continuous automated point-in-time recovery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142019"/>
                </a:solidFill>
                <a:latin typeface="Segoe UI"/>
              </a:rPr>
              <a:t>* Compound indexes optimized for sub-10ms queries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29200"/>
            <a:ext cx="10728655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12064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4332"/>
                </a:solidFill>
                <a:latin typeface="Segoe UI"/>
              </a:rPr>
              <a:t>Automated CI/CD Delivery Pipeline (GitHub Actions)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059669"/>
                </a:solidFill>
                <a:latin typeface="Consolas"/>
              </a:rPr>
              <a:t>Git Push -&gt; GitHub Actions Runner -&gt; ESLint &amp; TypeScript Compilation -&gt; Automated Test Suite (117 Tests) -&gt; Docker Build -&gt; Zero-Downtime Rolling Cloud Deployment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solidFill>
              <a:srgbClr val="F7F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059669"/>
                </a:solidFill>
                <a:latin typeface="Segoe UI"/>
              </a:rPr>
              <a:t>EVALUATION CRITERIA: P5 • GTM STRATEGY, COMMERCIALIZATION &amp; SCALE (20 MARKS)  |  SLIDE 15 OF 15</a:t>
            </a:r>
          </a:p>
          <a:p>
            <a:r>
              <a:rPr sz="2100" b="1">
                <a:solidFill>
                  <a:srgbClr val="1B4332"/>
                </a:solidFill>
                <a:latin typeface="Segoe UI"/>
              </a:rPr>
              <a:t>Go-To-Market Strategy &amp; Sustainable Roadmap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627267"/>
                </a:solidFill>
                <a:latin typeface="Segoe UI"/>
              </a:rPr>
              <a:t>Clear customer acquisition, viable B2B SaaS monetization, and product roadmap for hospital scale.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4332"/>
                </a:solidFill>
                <a:latin typeface="Segoe UI"/>
              </a:rPr>
              <a:t>1. Beachhead Customers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59669"/>
                </a:solidFill>
              </a:rPr>
              <a:t>* Primary Beachhead: </a:t>
            </a:r>
            <a:r>
              <a:rPr sz="950">
                <a:solidFill>
                  <a:srgbClr val="627267"/>
                </a:solidFill>
              </a:rPr>
              <a:t>Outpatient Ambulatory Surgery Centers (ASCs) &amp; Specialty Surgical Clinics. High post-op call volume, severe nurse burnout, immediate ROI.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59669"/>
                </a:solidFill>
              </a:rPr>
              <a:t>* Secondary Expansion: </a:t>
            </a:r>
            <a:r>
              <a:rPr sz="950">
                <a:solidFill>
                  <a:srgbClr val="627267"/>
                </a:solidFill>
              </a:rPr>
              <a:t>Community Hospitals &amp; Regional Health Systems (100-300 beds) facing readmission penalty risks.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59669"/>
                </a:solidFill>
              </a:rPr>
              <a:t>* Distribution Channels: </a:t>
            </a:r>
            <a:r>
              <a:rPr sz="950">
                <a:solidFill>
                  <a:srgbClr val="627267"/>
                </a:solidFill>
              </a:rPr>
              <a:t>Direct enterprise B2B sales, health-tech system integrator partnerships, and cloud marketplace listings.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8264" y="1554480"/>
            <a:ext cx="3383280" cy="4663440"/>
          </a:xfrm>
          <a:prstGeom prst="roundRect">
            <a:avLst/>
          </a:prstGeom>
          <a:solidFill>
            <a:srgbClr val="E8F3EC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81144" y="169164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4332"/>
                </a:solidFill>
                <a:latin typeface="Segoe UI"/>
              </a:rPr>
              <a:t>2. SaaS Unit Economics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B4332"/>
                </a:solidFill>
              </a:rPr>
              <a:t>[*] Tiered B2B SaaS: </a:t>
            </a:r>
            <a:r>
              <a:rPr sz="950">
                <a:solidFill>
                  <a:srgbClr val="142019"/>
                </a:solidFill>
              </a:rPr>
              <a:t>Clinic Tier: $1,500/mo (up to 5 doctors)
Regional Center: $4,500/mo (up to 25 staff)
Enterprise Health: $9,500+/mo (unlimited)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B4332"/>
                </a:solidFill>
              </a:rPr>
              <a:t>[*] Usage Processing Fee: </a:t>
            </a:r>
            <a:r>
              <a:rPr sz="950">
                <a:solidFill>
                  <a:srgbClr val="142019"/>
                </a:solidFill>
              </a:rPr>
              <a:t>$0.08 per processed telephony minute beyond tier quota.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B4332"/>
                </a:solidFill>
              </a:rPr>
              <a:t>[*] Compelling Hospital ROI: </a:t>
            </a:r>
            <a:r>
              <a:rPr sz="950">
                <a:solidFill>
                  <a:srgbClr val="142019"/>
                </a:solidFill>
              </a:rPr>
              <a:t>Saves an average 200-bed hospital $420,000/year in staff overtime and prevents 30-day readmissions.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B4332"/>
                </a:solidFill>
              </a:rPr>
              <a:t>[*] Gross Margins: </a:t>
            </a:r>
            <a:r>
              <a:rPr sz="950">
                <a:solidFill>
                  <a:srgbClr val="142019"/>
                </a:solidFill>
              </a:rPr>
              <a:t>82%+ software gross margin due to local Ollama inference efficiency.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5008" y="155448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69164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4332"/>
                </a:solidFill>
                <a:latin typeface="Segoe UI"/>
              </a:rPr>
              <a:t>3. Future Product Roadmap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59669"/>
                </a:solidFill>
              </a:rPr>
              <a:t>-&gt; Q3 2026: Live Telephony Trunking: </a:t>
            </a:r>
            <a:r>
              <a:rPr sz="950">
                <a:solidFill>
                  <a:srgbClr val="627267"/>
                </a:solidFill>
              </a:rPr>
              <a:t>Native WebRTC &amp; SIP Trunk integration with Twilio / Asterisk PBX for carrier telephony.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59669"/>
                </a:solidFill>
              </a:rPr>
              <a:t>-&gt; Q4 2026: Multilingual AI Voice: </a:t>
            </a:r>
            <a:r>
              <a:rPr sz="950">
                <a:solidFill>
                  <a:srgbClr val="627267"/>
                </a:solidFill>
              </a:rPr>
              <a:t>Sub-second clinical voice recognition in Spanish, Hindi, Mandarin, and regional Indian languages.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59669"/>
                </a:solidFill>
              </a:rPr>
              <a:t>-&gt; Q1 2027: Predictive Readmission AI: </a:t>
            </a:r>
            <a:r>
              <a:rPr sz="950">
                <a:solidFill>
                  <a:srgbClr val="627267"/>
                </a:solidFill>
              </a:rPr>
              <a:t>Machine learning risk scoring combining call telemetry with historical EHR charts.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59669"/>
                </a:solidFill>
              </a:rPr>
              <a:t>-&gt; Q2 2027: Epic &amp; Cerner FHIR API: </a:t>
            </a:r>
            <a:r>
              <a:rPr sz="950">
                <a:solidFill>
                  <a:srgbClr val="627267"/>
                </a:solidFill>
              </a:rPr>
              <a:t>Official HL7 / FHIR bi-directional certification for seamless hospital EHR integration.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